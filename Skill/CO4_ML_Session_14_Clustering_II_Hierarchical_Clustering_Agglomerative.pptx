
<file path=[Content_Types].xml><?xml version="1.0" encoding="utf-8"?>
<Types xmlns="http://schemas.openxmlformats.org/package/2006/content-types">
  <Default Extension="bin" ContentType="application/vnd.openxmlformats-officedocument.oleObject"/>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6"/>
  </p:notesMasterIdLst>
  <p:handoutMasterIdLst>
    <p:handoutMasterId r:id="rId27"/>
  </p:handoutMasterIdLst>
  <p:sldIdLst>
    <p:sldId id="303" r:id="rId2"/>
    <p:sldId id="404" r:id="rId3"/>
    <p:sldId id="262" r:id="rId4"/>
    <p:sldId id="263" r:id="rId5"/>
    <p:sldId id="264" r:id="rId6"/>
    <p:sldId id="405" r:id="rId7"/>
    <p:sldId id="304" r:id="rId8"/>
    <p:sldId id="305" r:id="rId9"/>
    <p:sldId id="306" r:id="rId10"/>
    <p:sldId id="307" r:id="rId11"/>
    <p:sldId id="406" r:id="rId12"/>
    <p:sldId id="309" r:id="rId13"/>
    <p:sldId id="310" r:id="rId14"/>
    <p:sldId id="311" r:id="rId15"/>
    <p:sldId id="312" r:id="rId16"/>
    <p:sldId id="313" r:id="rId17"/>
    <p:sldId id="316" r:id="rId18"/>
    <p:sldId id="314" r:id="rId19"/>
    <p:sldId id="407" r:id="rId20"/>
    <p:sldId id="408" r:id="rId21"/>
    <p:sldId id="301" r:id="rId22"/>
    <p:sldId id="380" r:id="rId23"/>
    <p:sldId id="308" r:id="rId24"/>
    <p:sldId id="278" r:id="rId2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7040" autoAdjust="0"/>
    <p:restoredTop sz="94660"/>
  </p:normalViewPr>
  <p:slideViewPr>
    <p:cSldViewPr snapToGrid="0">
      <p:cViewPr varScale="1">
        <p:scale>
          <a:sx n="82" d="100"/>
          <a:sy n="82" d="100"/>
        </p:scale>
        <p:origin x="624"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handoutMaster" Target="handoutMasters/handoutMaster1.xml"/><Relationship Id="rId30"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6CDB74D4-5E76-4C47-E7AA-61E2C648C8D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a:extLst>
              <a:ext uri="{FF2B5EF4-FFF2-40B4-BE49-F238E27FC236}">
                <a16:creationId xmlns:a16="http://schemas.microsoft.com/office/drawing/2014/main" id="{7C962EDA-0A3B-5C3A-C8DF-7672C339CF9F}"/>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775D750-AD1D-4C03-A026-1768137CC901}" type="datetimeFigureOut">
              <a:rPr lang="en-IN" smtClean="0"/>
              <a:t>15-09-2026</a:t>
            </a:fld>
            <a:endParaRPr lang="en-IN"/>
          </a:p>
        </p:txBody>
      </p:sp>
      <p:sp>
        <p:nvSpPr>
          <p:cNvPr id="4" name="Footer Placeholder 3">
            <a:extLst>
              <a:ext uri="{FF2B5EF4-FFF2-40B4-BE49-F238E27FC236}">
                <a16:creationId xmlns:a16="http://schemas.microsoft.com/office/drawing/2014/main" id="{1EC80489-5F61-FA08-A147-AE43BE9C4993}"/>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5" name="Slide Number Placeholder 4">
            <a:extLst>
              <a:ext uri="{FF2B5EF4-FFF2-40B4-BE49-F238E27FC236}">
                <a16:creationId xmlns:a16="http://schemas.microsoft.com/office/drawing/2014/main" id="{F72D387C-1469-6716-E148-98BDCB69762B}"/>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E44566E6-FD90-4AE7-9488-620D46A968BE}" type="slidenum">
              <a:rPr lang="en-IN" smtClean="0"/>
              <a:t>‹#›</a:t>
            </a:fld>
            <a:endParaRPr lang="en-IN"/>
          </a:p>
        </p:txBody>
      </p:sp>
    </p:spTree>
    <p:extLst>
      <p:ext uri="{BB962C8B-B14F-4D97-AF65-F5344CB8AC3E}">
        <p14:creationId xmlns:p14="http://schemas.microsoft.com/office/powerpoint/2010/main" val="954391555"/>
      </p:ext>
    </p:extLst>
  </p:cSld>
  <p:clrMap bg1="lt1" tx1="dk1" bg2="lt2" tx2="dk2" accent1="accent1" accent2="accent2" accent3="accent3" accent4="accent4" accent5="accent5" accent6="accent6" hlink="hlink" folHlink="folHlink"/>
  <p:hf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n-IN"/>
              <a:t>Course Title, Topic Name</a:t>
            </a: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826BB4A-8EA9-40D4-95BF-21E04B247614}" type="datetimeFigureOut">
              <a:rPr lang="en-IN" smtClean="0"/>
              <a:t>15-09-2026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r>
              <a:rPr lang="en-US"/>
              <a:t>College of Engineering, KONERU LAKSHMAIAH EDUCATION FOUNDATION</a:t>
            </a:r>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23BDDA1-7BB7-447A-97DE-AE5425C8F2AD}" type="slidenum">
              <a:rPr lang="en-IN" smtClean="0"/>
              <a:t>‹#›</a:t>
            </a:fld>
            <a:endParaRPr lang="en-IN"/>
          </a:p>
        </p:txBody>
      </p:sp>
    </p:spTree>
    <p:extLst>
      <p:ext uri="{BB962C8B-B14F-4D97-AF65-F5344CB8AC3E}">
        <p14:creationId xmlns:p14="http://schemas.microsoft.com/office/powerpoint/2010/main" val="3310007880"/>
      </p:ext>
    </p:extLst>
  </p:cSld>
  <p:clrMap bg1="lt1" tx1="dk1" bg2="lt2" tx2="dk2" accent1="accent1" accent2="accent2" accent3="accent3" accent4="accent4" accent5="accent5" accent6="accent6" hlink="hlink" folHlink="folHlink"/>
  <p:hf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t>6</a:t>
            </a:fld>
            <a:endParaRPr lang="en-US"/>
          </a:p>
        </p:txBody>
      </p:sp>
    </p:spTree>
    <p:extLst>
      <p:ext uri="{BB962C8B-B14F-4D97-AF65-F5344CB8AC3E}">
        <p14:creationId xmlns:p14="http://schemas.microsoft.com/office/powerpoint/2010/main" val="55041295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t>7</a:t>
            </a:fld>
            <a:endParaRPr lang="en-US"/>
          </a:p>
        </p:txBody>
      </p:sp>
    </p:spTree>
    <p:extLst>
      <p:ext uri="{BB962C8B-B14F-4D97-AF65-F5344CB8AC3E}">
        <p14:creationId xmlns:p14="http://schemas.microsoft.com/office/powerpoint/2010/main" val="345478890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t>8</a:t>
            </a:fld>
            <a:endParaRPr lang="en-US"/>
          </a:p>
        </p:txBody>
      </p:sp>
    </p:spTree>
    <p:extLst>
      <p:ext uri="{BB962C8B-B14F-4D97-AF65-F5344CB8AC3E}">
        <p14:creationId xmlns:p14="http://schemas.microsoft.com/office/powerpoint/2010/main" val="171900571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t>9</a:t>
            </a:fld>
            <a:endParaRPr lang="en-US"/>
          </a:p>
        </p:txBody>
      </p:sp>
    </p:spTree>
    <p:extLst>
      <p:ext uri="{BB962C8B-B14F-4D97-AF65-F5344CB8AC3E}">
        <p14:creationId xmlns:p14="http://schemas.microsoft.com/office/powerpoint/2010/main" val="157694598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t>10</a:t>
            </a:fld>
            <a:endParaRPr lang="en-US"/>
          </a:p>
        </p:txBody>
      </p:sp>
    </p:spTree>
    <p:extLst>
      <p:ext uri="{BB962C8B-B14F-4D97-AF65-F5344CB8AC3E}">
        <p14:creationId xmlns:p14="http://schemas.microsoft.com/office/powerpoint/2010/main" val="30534345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t>11</a:t>
            </a:fld>
            <a:endParaRPr lang="en-US"/>
          </a:p>
        </p:txBody>
      </p:sp>
    </p:spTree>
    <p:extLst>
      <p:ext uri="{BB962C8B-B14F-4D97-AF65-F5344CB8AC3E}">
        <p14:creationId xmlns:p14="http://schemas.microsoft.com/office/powerpoint/2010/main" val="1073549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t>12</a:t>
            </a:fld>
            <a:endParaRPr lang="en-US"/>
          </a:p>
        </p:txBody>
      </p:sp>
    </p:spTree>
    <p:extLst>
      <p:ext uri="{BB962C8B-B14F-4D97-AF65-F5344CB8AC3E}">
        <p14:creationId xmlns:p14="http://schemas.microsoft.com/office/powerpoint/2010/main" val="358928082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t>13</a:t>
            </a:fld>
            <a:endParaRPr lang="en-US"/>
          </a:p>
        </p:txBody>
      </p:sp>
    </p:spTree>
    <p:extLst>
      <p:ext uri="{BB962C8B-B14F-4D97-AF65-F5344CB8AC3E}">
        <p14:creationId xmlns:p14="http://schemas.microsoft.com/office/powerpoint/2010/main" val="5219554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t>14</a:t>
            </a:fld>
            <a:endParaRPr lang="en-US"/>
          </a:p>
        </p:txBody>
      </p:sp>
    </p:spTree>
    <p:extLst>
      <p:ext uri="{BB962C8B-B14F-4D97-AF65-F5344CB8AC3E}">
        <p14:creationId xmlns:p14="http://schemas.microsoft.com/office/powerpoint/2010/main" val="8455582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t>15</a:t>
            </a:fld>
            <a:endParaRPr lang="en-US"/>
          </a:p>
        </p:txBody>
      </p:sp>
    </p:spTree>
    <p:extLst>
      <p:ext uri="{BB962C8B-B14F-4D97-AF65-F5344CB8AC3E}">
        <p14:creationId xmlns:p14="http://schemas.microsoft.com/office/powerpoint/2010/main" val="123950018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t>16</a:t>
            </a:fld>
            <a:endParaRPr lang="en-US"/>
          </a:p>
        </p:txBody>
      </p:sp>
    </p:spTree>
    <p:extLst>
      <p:ext uri="{BB962C8B-B14F-4D97-AF65-F5344CB8AC3E}">
        <p14:creationId xmlns:p14="http://schemas.microsoft.com/office/powerpoint/2010/main" val="28228418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t>17</a:t>
            </a:fld>
            <a:endParaRPr lang="en-US"/>
          </a:p>
        </p:txBody>
      </p:sp>
    </p:spTree>
    <p:extLst>
      <p:ext uri="{BB962C8B-B14F-4D97-AF65-F5344CB8AC3E}">
        <p14:creationId xmlns:p14="http://schemas.microsoft.com/office/powerpoint/2010/main" val="267495506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54E4ADD7-897F-4F47-A317-DE24AB827DD3}" type="slidenum">
              <a:rPr lang="en-US" smtClean="0"/>
              <a:t>18</a:t>
            </a:fld>
            <a:endParaRPr lang="en-US"/>
          </a:p>
        </p:txBody>
      </p:sp>
    </p:spTree>
    <p:extLst>
      <p:ext uri="{BB962C8B-B14F-4D97-AF65-F5344CB8AC3E}">
        <p14:creationId xmlns:p14="http://schemas.microsoft.com/office/powerpoint/2010/main" val="48065716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2417779" y="802298"/>
            <a:ext cx="8637073" cy="2541431"/>
          </a:xfrm>
        </p:spPr>
        <p:txBody>
          <a:bodyPr bIns="0" anchor="b">
            <a:normAutofit/>
          </a:bodyPr>
          <a:lstStyle>
            <a:lvl1pPr algn="l">
              <a:defRPr sz="6600"/>
            </a:lvl1pPr>
          </a:lstStyle>
          <a:p>
            <a:r>
              <a:rPr lang="en-US"/>
              <a:t>Click to edit Master title style</a:t>
            </a:r>
            <a:endParaRPr lang="en-US" dirty="0"/>
          </a:p>
        </p:txBody>
      </p:sp>
      <p:sp>
        <p:nvSpPr>
          <p:cNvPr id="3" name="Subtitle 2"/>
          <p:cNvSpPr>
            <a:spLocks noGrp="1"/>
          </p:cNvSpPr>
          <p:nvPr>
            <p:ph type="subTitle" idx="1"/>
          </p:nvPr>
        </p:nvSpPr>
        <p:spPr>
          <a:xfrm>
            <a:off x="2417780" y="3531204"/>
            <a:ext cx="8637072" cy="977621"/>
          </a:xfrm>
        </p:spPr>
        <p:txBody>
          <a:bodyPr tIns="91440" bIns="91440">
            <a:normAutofit/>
          </a:bodyPr>
          <a:lstStyle>
            <a:lvl1pPr marL="0" indent="0" algn="l">
              <a:buNone/>
              <a:defRPr sz="1800" b="0" cap="all" baseline="0">
                <a:solidFill>
                  <a:schemeClr val="tx1"/>
                </a:solidFill>
              </a:defRPr>
            </a:lvl1pPr>
            <a:lvl2pPr marL="457200" indent="0" algn="ctr">
              <a:buNone/>
              <a:defRPr sz="18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a:xfrm>
            <a:off x="1437664" y="798973"/>
            <a:ext cx="811019" cy="503578"/>
          </a:xfrm>
        </p:spPr>
        <p:txBody>
          <a:bodyPr/>
          <a:lstStyle/>
          <a:p>
            <a:fld id="{CBABCCC1-BF11-4F37-963E-1BCD5B23FD72}" type="slidenum">
              <a:rPr lang="en-IN" smtClean="0"/>
              <a:t>‹#›</a:t>
            </a:fld>
            <a:endParaRPr lang="en-IN"/>
          </a:p>
        </p:txBody>
      </p:sp>
      <p:cxnSp>
        <p:nvCxnSpPr>
          <p:cNvPr id="15" name="Straight Connector 14"/>
          <p:cNvCxnSpPr/>
          <p:nvPr/>
        </p:nvCxnSpPr>
        <p:spPr>
          <a:xfrm>
            <a:off x="2417780" y="3528542"/>
            <a:ext cx="863707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88398286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33" name="Straight Connector 32"/>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575211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454239" y="1756130"/>
            <a:ext cx="8643154" cy="1887950"/>
          </a:xfrm>
        </p:spPr>
        <p:txBody>
          <a:bodyPr anchor="b">
            <a:normAutofit/>
          </a:bodyPr>
          <a:lstStyle>
            <a:lvl1pPr algn="l">
              <a:defRPr sz="3600"/>
            </a:lvl1pPr>
          </a:lstStyle>
          <a:p>
            <a:r>
              <a:rPr lang="en-US"/>
              <a:t>Click to edit Master title style</a:t>
            </a:r>
            <a:endParaRPr lang="en-US" dirty="0"/>
          </a:p>
        </p:txBody>
      </p:sp>
      <p:sp>
        <p:nvSpPr>
          <p:cNvPr id="3" name="Text Placeholder 2"/>
          <p:cNvSpPr>
            <a:spLocks noGrp="1"/>
          </p:cNvSpPr>
          <p:nvPr>
            <p:ph type="body" idx="1"/>
          </p:nvPr>
        </p:nvSpPr>
        <p:spPr>
          <a:xfrm>
            <a:off x="1454239" y="3806195"/>
            <a:ext cx="8630446" cy="1012929"/>
          </a:xfrm>
        </p:spPr>
        <p:txBody>
          <a:bodyPr tIns="91440">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1454239" y="3804985"/>
            <a:ext cx="8630446"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49094892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1449217" y="804889"/>
            <a:ext cx="9605635" cy="1059305"/>
          </a:xfrm>
        </p:spPr>
        <p:txBody>
          <a:bodyPr/>
          <a:lstStyle/>
          <a:p>
            <a:r>
              <a:rPr lang="en-US"/>
              <a:t>Click to edit Master title style</a:t>
            </a:r>
            <a:endParaRPr lang="en-US" dirty="0"/>
          </a:p>
        </p:txBody>
      </p:sp>
      <p:sp>
        <p:nvSpPr>
          <p:cNvPr id="3" name="Content Placeholder 2"/>
          <p:cNvSpPr>
            <a:spLocks noGrp="1"/>
          </p:cNvSpPr>
          <p:nvPr>
            <p:ph sz="half" idx="1"/>
          </p:nvPr>
        </p:nvSpPr>
        <p:spPr>
          <a:xfrm>
            <a:off x="1447331" y="2010878"/>
            <a:ext cx="4645152" cy="344859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413771" y="2017343"/>
            <a:ext cx="4645152" cy="34415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5" name="Straight Connector 34"/>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75228615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447191" y="804163"/>
            <a:ext cx="9607661" cy="1056319"/>
          </a:xfrm>
        </p:spPr>
        <p:txBody>
          <a:bodyPr/>
          <a:lstStyle/>
          <a:p>
            <a:r>
              <a:rPr lang="en-US"/>
              <a:t>Click to edit Master title style</a:t>
            </a:r>
            <a:endParaRPr lang="en-US" dirty="0"/>
          </a:p>
        </p:txBody>
      </p:sp>
      <p:sp>
        <p:nvSpPr>
          <p:cNvPr id="3" name="Text Placeholder 2"/>
          <p:cNvSpPr>
            <a:spLocks noGrp="1"/>
          </p:cNvSpPr>
          <p:nvPr>
            <p:ph type="body" idx="1"/>
          </p:nvPr>
        </p:nvSpPr>
        <p:spPr>
          <a:xfrm>
            <a:off x="1447191" y="2019549"/>
            <a:ext cx="4645152" cy="801943"/>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447191" y="2824269"/>
            <a:ext cx="4645152" cy="264445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12362" y="2023003"/>
            <a:ext cx="4645152" cy="802237"/>
          </a:xfrm>
        </p:spPr>
        <p:txBody>
          <a:bodyPr anchor="b">
            <a:normAutofit/>
          </a:bodyPr>
          <a:lstStyle>
            <a:lvl1pPr marL="0" indent="0">
              <a:lnSpc>
                <a:spcPct val="100000"/>
              </a:lnSpc>
              <a:buNone/>
              <a:defRPr sz="2200" b="0" cap="all" baseline="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412362" y="2821491"/>
            <a:ext cx="4645152" cy="263737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r>
              <a:rPr lang="en-US"/>
              <a:t>&lt;COURSE TITLE&gt;, &lt;TOPIC NAME&gt;</a:t>
            </a:r>
            <a:endParaRPr lang="en-IN" dirty="0"/>
          </a:p>
        </p:txBody>
      </p:sp>
      <p:sp>
        <p:nvSpPr>
          <p:cNvPr id="9" name="Slide Number Placeholder 8"/>
          <p:cNvSpPr>
            <a:spLocks noGrp="1"/>
          </p:cNvSpPr>
          <p:nvPr>
            <p:ph type="sldNum" sz="quarter" idx="12"/>
          </p:nvPr>
        </p:nvSpPr>
        <p:spPr/>
        <p:txBody>
          <a:bodyPr/>
          <a:lstStyle/>
          <a:p>
            <a:fld id="{CBABCCC1-BF11-4F37-963E-1BCD5B23FD72}" type="slidenum">
              <a:rPr lang="en-IN" smtClean="0"/>
              <a:t>‹#›</a:t>
            </a:fld>
            <a:endParaRPr lang="en-IN"/>
          </a:p>
        </p:txBody>
      </p:sp>
      <p:cxnSp>
        <p:nvCxnSpPr>
          <p:cNvPr id="29" name="Straight Connector 28"/>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837270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0C03EC-DED8-961A-E6B1-FC325D99310A}"/>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F8923624-447B-2B91-A67E-1D3A38316478}"/>
              </a:ext>
            </a:extLst>
          </p:cNvPr>
          <p:cNvSpPr>
            <a:spLocks noGrp="1"/>
          </p:cNvSpPr>
          <p:nvPr>
            <p:ph type="dt" sz="half" idx="10"/>
          </p:nvPr>
        </p:nvSpPr>
        <p:spPr/>
        <p:txBody>
          <a:bodyPr/>
          <a:lstStyle/>
          <a:p>
            <a:r>
              <a:rPr lang="en-US"/>
              <a:t>&lt;COURSE TITLE&gt;, &lt;TOPIC NAME&gt;</a:t>
            </a:r>
            <a:endParaRPr lang="en-IN" dirty="0"/>
          </a:p>
        </p:txBody>
      </p:sp>
      <p:sp>
        <p:nvSpPr>
          <p:cNvPr id="4" name="Slide Number Placeholder 3">
            <a:extLst>
              <a:ext uri="{FF2B5EF4-FFF2-40B4-BE49-F238E27FC236}">
                <a16:creationId xmlns:a16="http://schemas.microsoft.com/office/drawing/2014/main" id="{0C7F3345-2DE5-DDDA-AE48-9C6139CAFF63}"/>
              </a:ext>
            </a:extLst>
          </p:cNvPr>
          <p:cNvSpPr>
            <a:spLocks noGrp="1"/>
          </p:cNvSpPr>
          <p:nvPr>
            <p:ph type="sldNum" sz="quarter" idx="11"/>
          </p:nvPr>
        </p:nvSpPr>
        <p:spPr/>
        <p:txBody>
          <a:bodyPr/>
          <a:lstStyle/>
          <a:p>
            <a:fld id="{CBABCCC1-BF11-4F37-963E-1BCD5B23FD72}" type="slidenum">
              <a:rPr lang="en-IN" smtClean="0"/>
              <a:pPr/>
              <a:t>‹#›</a:t>
            </a:fld>
            <a:endParaRPr lang="en-IN" dirty="0"/>
          </a:p>
        </p:txBody>
      </p:sp>
      <p:sp>
        <p:nvSpPr>
          <p:cNvPr id="6" name="Content Placeholder 5">
            <a:extLst>
              <a:ext uri="{FF2B5EF4-FFF2-40B4-BE49-F238E27FC236}">
                <a16:creationId xmlns:a16="http://schemas.microsoft.com/office/drawing/2014/main" id="{1E651E9B-DDDD-0421-B94E-3485D0DEC052}"/>
              </a:ext>
            </a:extLst>
          </p:cNvPr>
          <p:cNvSpPr>
            <a:spLocks noGrp="1"/>
          </p:cNvSpPr>
          <p:nvPr>
            <p:ph sz="quarter" idx="12"/>
          </p:nvPr>
        </p:nvSpPr>
        <p:spPr>
          <a:xfrm>
            <a:off x="1149350" y="2225675"/>
            <a:ext cx="10204450" cy="34337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Tree>
    <p:extLst>
      <p:ext uri="{BB962C8B-B14F-4D97-AF65-F5344CB8AC3E}">
        <p14:creationId xmlns:p14="http://schemas.microsoft.com/office/powerpoint/2010/main" val="45017846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&lt;COURSE TITLE&gt;, &lt;TOPIC NAME&gt;</a:t>
            </a:r>
            <a:endParaRPr lang="en-IN" dirty="0"/>
          </a:p>
        </p:txBody>
      </p:sp>
      <p:sp>
        <p:nvSpPr>
          <p:cNvPr id="4" name="Slide Number Placeholder 3"/>
          <p:cNvSpPr>
            <a:spLocks noGrp="1"/>
          </p:cNvSpPr>
          <p:nvPr>
            <p:ph type="sldNum" sz="quarter" idx="12"/>
          </p:nvPr>
        </p:nvSpPr>
        <p:spPr/>
        <p:txBody>
          <a:bodyPr/>
          <a:lstStyle/>
          <a:p>
            <a:fld id="{CBABCCC1-BF11-4F37-963E-1BCD5B23FD72}" type="slidenum">
              <a:rPr lang="en-IN" smtClean="0"/>
              <a:t>‹#›</a:t>
            </a:fld>
            <a:endParaRPr lang="en-IN"/>
          </a:p>
        </p:txBody>
      </p:sp>
    </p:spTree>
    <p:extLst>
      <p:ext uri="{BB962C8B-B14F-4D97-AF65-F5344CB8AC3E}">
        <p14:creationId xmlns:p14="http://schemas.microsoft.com/office/powerpoint/2010/main" val="319458717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4671" y="798973"/>
            <a:ext cx="3273099" cy="2247117"/>
          </a:xfrm>
        </p:spPr>
        <p:txBody>
          <a:bodyPr anchor="b">
            <a:normAutofit/>
          </a:bodyPr>
          <a:lstStyle>
            <a:lvl1pPr algn="l">
              <a:defRPr sz="2400"/>
            </a:lvl1pPr>
          </a:lstStyle>
          <a:p>
            <a:r>
              <a:rPr lang="en-US"/>
              <a:t>Click to edit Master title style</a:t>
            </a:r>
            <a:endParaRPr lang="en-US" dirty="0"/>
          </a:p>
        </p:txBody>
      </p:sp>
      <p:sp>
        <p:nvSpPr>
          <p:cNvPr id="3" name="Content Placeholder 2"/>
          <p:cNvSpPr>
            <a:spLocks noGrp="1"/>
          </p:cNvSpPr>
          <p:nvPr>
            <p:ph idx="1"/>
          </p:nvPr>
        </p:nvSpPr>
        <p:spPr>
          <a:xfrm>
            <a:off x="5043714" y="798974"/>
            <a:ext cx="6012470" cy="4658826"/>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444671" y="3205491"/>
            <a:ext cx="3275013" cy="2248181"/>
          </a:xfrm>
        </p:spPr>
        <p:txBody>
          <a:bodyPr/>
          <a:lstStyle>
            <a:lvl1pPr marL="0" indent="0" algn="l">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17" name="Straight Connector 16"/>
          <p:cNvCxnSpPr/>
          <p:nvPr/>
        </p:nvCxnSpPr>
        <p:spPr>
          <a:xfrm>
            <a:off x="1448280" y="3205491"/>
            <a:ext cx="3269490"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273203743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grpSp>
        <p:nvGrpSpPr>
          <p:cNvPr id="8" name="Group 7"/>
          <p:cNvGrpSpPr/>
          <p:nvPr/>
        </p:nvGrpSpPr>
        <p:grpSpPr>
          <a:xfrm>
            <a:off x="7477387" y="482170"/>
            <a:ext cx="4074533" cy="5149101"/>
            <a:chOff x="7477387" y="482170"/>
            <a:chExt cx="4074533" cy="5149101"/>
          </a:xfrm>
        </p:grpSpPr>
        <p:sp>
          <p:nvSpPr>
            <p:cNvPr id="18" name="Rectangle 17"/>
            <p:cNvSpPr/>
            <p:nvPr/>
          </p:nvSpPr>
          <p:spPr bwMode="black">
            <a:xfrm>
              <a:off x="7477387" y="482170"/>
              <a:ext cx="4074533" cy="5149101"/>
            </a:xfrm>
            <a:prstGeom prst="rect">
              <a:avLst/>
            </a:prstGeom>
            <a:gradFill>
              <a:gsLst>
                <a:gs pos="0">
                  <a:srgbClr val="000001"/>
                </a:gs>
                <a:gs pos="100000">
                  <a:srgbClr val="191919"/>
                </a:gs>
              </a:gsLst>
            </a:gradFill>
            <a:ln w="76200" cmpd="sng">
              <a:noFill/>
              <a:miter lim="800000"/>
            </a:ln>
            <a:effectLst>
              <a:outerShdw blurRad="127000" dist="228600" dir="4740000" sx="98000" sy="98000" algn="tl" rotWithShape="0">
                <a:srgbClr val="000000">
                  <a:alpha val="34000"/>
                </a:srgbClr>
              </a:outerShdw>
            </a:effectLst>
            <a:scene3d>
              <a:camera prst="orthographicFront"/>
              <a:lightRig rig="threePt" dir="t"/>
            </a:scene3d>
            <a:sp3d>
              <a:bevelT w="152400" h="50800" prst="softRound"/>
            </a:sp3d>
          </p:spPr>
          <p:style>
            <a:lnRef idx="1">
              <a:schemeClr val="accent1"/>
            </a:lnRef>
            <a:fillRef idx="3">
              <a:schemeClr val="accent1"/>
            </a:fillRef>
            <a:effectRef idx="2">
              <a:schemeClr val="accent1"/>
            </a:effectRef>
            <a:fontRef idx="minor">
              <a:schemeClr val="lt1"/>
            </a:fontRef>
          </p:style>
        </p:sp>
        <p:sp>
          <p:nvSpPr>
            <p:cNvPr id="19" name="Rectangle 18"/>
            <p:cNvSpPr/>
            <p:nvPr/>
          </p:nvSpPr>
          <p:spPr bwMode="blackWhite">
            <a:xfrm>
              <a:off x="7790446" y="812506"/>
              <a:ext cx="3450289" cy="4466452"/>
            </a:xfrm>
            <a:prstGeom prst="rect">
              <a:avLst/>
            </a:prstGeom>
            <a:gradFill>
              <a:gsLst>
                <a:gs pos="0">
                  <a:srgbClr val="DADADA"/>
                </a:gs>
                <a:gs pos="100000">
                  <a:srgbClr val="FFFFFE"/>
                </a:gs>
              </a:gsLst>
              <a:lin ang="16200000" scaled="0"/>
            </a:gradFill>
            <a:ln w="50800" cmpd="sng">
              <a:solidFill>
                <a:srgbClr val="191919"/>
              </a:solidFill>
              <a:miter lim="800000"/>
            </a:ln>
            <a:effectLst>
              <a:innerShdw blurRad="63500" dist="88900" dir="14100000">
                <a:srgbClr val="000000">
                  <a:alpha val="30000"/>
                </a:srgbClr>
              </a:innerShdw>
            </a:effectLst>
            <a:scene3d>
              <a:camera prst="orthographicFront"/>
              <a:lightRig rig="threePt" dir="t"/>
            </a:scene3d>
            <a:sp3d>
              <a:bevelT prst="relaxedInset"/>
            </a:sp3d>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title"/>
          </p:nvPr>
        </p:nvSpPr>
        <p:spPr>
          <a:xfrm>
            <a:off x="1451206" y="1129513"/>
            <a:ext cx="5532328" cy="1830584"/>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8124389" y="1122542"/>
            <a:ext cx="2791171" cy="3866327"/>
          </a:xfrm>
          <a:solidFill>
            <a:schemeClr val="bg1">
              <a:lumMod val="85000"/>
            </a:schemeClr>
          </a:solidFill>
          <a:ln w="9525" cap="sq">
            <a:noFill/>
            <a:miter lim="800000"/>
          </a:ln>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450329" y="3145992"/>
            <a:ext cx="5524404" cy="2003742"/>
          </a:xfrm>
        </p:spPr>
        <p:txBody>
          <a:bodyPr>
            <a:normAutofit/>
          </a:bodyPr>
          <a:lstStyle>
            <a:lvl1pPr marL="0" indent="0" algn="l">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a:xfrm>
            <a:off x="1447382" y="5469856"/>
            <a:ext cx="5527351" cy="320123"/>
          </a:xfrm>
        </p:spPr>
        <p:txBody>
          <a:bodyPr/>
          <a:lstStyle>
            <a:lvl1pPr algn="l">
              <a:defRPr/>
            </a:lvl1pPr>
          </a:lstStyle>
          <a:p>
            <a:r>
              <a:rPr lang="en-US"/>
              <a:t>&lt;COURSE TITLE&gt;, &lt;TOPIC NAME&gt;</a:t>
            </a:r>
            <a:endParaRPr lang="en-IN" dirty="0"/>
          </a:p>
        </p:txBody>
      </p:sp>
      <p:sp>
        <p:nvSpPr>
          <p:cNvPr id="7" name="Slide Number Placeholder 6"/>
          <p:cNvSpPr>
            <a:spLocks noGrp="1"/>
          </p:cNvSpPr>
          <p:nvPr>
            <p:ph type="sldNum" sz="quarter" idx="12"/>
          </p:nvPr>
        </p:nvSpPr>
        <p:spPr/>
        <p:txBody>
          <a:bodyPr/>
          <a:lstStyle/>
          <a:p>
            <a:fld id="{CBABCCC1-BF11-4F37-963E-1BCD5B23FD72}" type="slidenum">
              <a:rPr lang="en-IN" smtClean="0"/>
              <a:t>‹#›</a:t>
            </a:fld>
            <a:endParaRPr lang="en-IN"/>
          </a:p>
        </p:txBody>
      </p:sp>
      <p:cxnSp>
        <p:nvCxnSpPr>
          <p:cNvPr id="31" name="Straight Connector 30"/>
          <p:cNvCxnSpPr/>
          <p:nvPr/>
        </p:nvCxnSpPr>
        <p:spPr>
          <a:xfrm>
            <a:off x="1447382" y="3143605"/>
            <a:ext cx="5527351"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320077693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26" name="Straight Connector 25"/>
          <p:cNvCxnSpPr/>
          <p:nvPr/>
        </p:nvCxnSpPr>
        <p:spPr>
          <a:xfrm>
            <a:off x="1453896" y="1847088"/>
            <a:ext cx="9607522" cy="0"/>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123126745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439111" y="798973"/>
            <a:ext cx="1615742" cy="4659889"/>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1444672" y="798973"/>
            <a:ext cx="7828830" cy="465988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r>
              <a:rPr lang="en-US"/>
              <a:t>&lt;COURSE TITLE&gt;, &lt;TOPIC NAME&gt;</a:t>
            </a:r>
            <a:endParaRPr lang="en-IN" dirty="0"/>
          </a:p>
        </p:txBody>
      </p:sp>
      <p:sp>
        <p:nvSpPr>
          <p:cNvPr id="6" name="Slide Number Placeholder 5"/>
          <p:cNvSpPr>
            <a:spLocks noGrp="1"/>
          </p:cNvSpPr>
          <p:nvPr>
            <p:ph type="sldNum" sz="quarter" idx="12"/>
          </p:nvPr>
        </p:nvSpPr>
        <p:spPr/>
        <p:txBody>
          <a:bodyPr/>
          <a:lstStyle/>
          <a:p>
            <a:fld id="{CBABCCC1-BF11-4F37-963E-1BCD5B23FD72}" type="slidenum">
              <a:rPr lang="en-IN" smtClean="0"/>
              <a:t>‹#›</a:t>
            </a:fld>
            <a:endParaRPr lang="en-IN"/>
          </a:p>
        </p:txBody>
      </p:sp>
      <p:cxnSp>
        <p:nvCxnSpPr>
          <p:cNvPr id="15" name="Straight Connector 14"/>
          <p:cNvCxnSpPr/>
          <p:nvPr/>
        </p:nvCxnSpPr>
        <p:spPr>
          <a:xfrm>
            <a:off x="9439111" y="798973"/>
            <a:ext cx="0" cy="4659889"/>
          </a:xfrm>
          <a:prstGeom prst="line">
            <a:avLst/>
          </a:prstGeom>
          <a:ln w="31750"/>
        </p:spPr>
        <p:style>
          <a:lnRef idx="3">
            <a:schemeClr val="accent1"/>
          </a:lnRef>
          <a:fillRef idx="0">
            <a:schemeClr val="accent1"/>
          </a:fillRef>
          <a:effectRef idx="2">
            <a:schemeClr val="accent1"/>
          </a:effectRef>
          <a:fontRef idx="minor">
            <a:schemeClr val="tx1"/>
          </a:fontRef>
        </p:style>
      </p:cxnSp>
    </p:spTree>
    <p:extLst>
      <p:ext uri="{BB962C8B-B14F-4D97-AF65-F5344CB8AC3E}">
        <p14:creationId xmlns:p14="http://schemas.microsoft.com/office/powerpoint/2010/main" val="75364021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p:cSld name="1_Title and Content">
    <p:spTree>
      <p:nvGrpSpPr>
        <p:cNvPr id="1" name="Shape 48"/>
        <p:cNvGrpSpPr/>
        <p:nvPr/>
      </p:nvGrpSpPr>
      <p:grpSpPr>
        <a:xfrm>
          <a:off x="0" y="0"/>
          <a:ext cx="0" cy="0"/>
          <a:chOff x="0" y="0"/>
          <a:chExt cx="0" cy="0"/>
        </a:xfrm>
      </p:grpSpPr>
      <p:sp>
        <p:nvSpPr>
          <p:cNvPr id="49" name="Google Shape;49;p47"/>
          <p:cNvSpPr>
            <a:spLocks noGrp="1"/>
          </p:cNvSpPr>
          <p:nvPr>
            <p:ph type="pic" idx="2"/>
          </p:nvPr>
        </p:nvSpPr>
        <p:spPr>
          <a:xfrm>
            <a:off x="0" y="0"/>
            <a:ext cx="5467350" cy="5987983"/>
          </a:xfrm>
          <a:prstGeom prst="rect">
            <a:avLst/>
          </a:prstGeom>
          <a:noFill/>
          <a:ln>
            <a:noFill/>
          </a:ln>
        </p:spPr>
        <p:txBody>
          <a:bodyPr spcFirstLastPara="1" lIns="91425" tIns="45700" rIns="91425" bIns="45700" rtlCol="0">
            <a:noAutofit/>
          </a:bodyPr>
          <a:lstStyle>
            <a:lvl1pPr marR="0" lvl="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R="0" lvl="1"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R="0" lvl="2"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R="0" lvl="3"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R="0" lvl="4"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R="0" lvl="5"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R="0" lvl="6"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R="0" lvl="7"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R="0" lvl="8"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lvl="0"/>
            <a:r>
              <a:rPr lang="en-US" noProof="0">
                <a:sym typeface="Calibri"/>
              </a:rPr>
              <a:t>Click icon to add picture</a:t>
            </a:r>
            <a:endParaRPr noProof="0">
              <a:sym typeface="Calibri"/>
            </a:endParaRPr>
          </a:p>
        </p:txBody>
      </p:sp>
    </p:spTree>
    <p:extLst>
      <p:ext uri="{BB962C8B-B14F-4D97-AF65-F5344CB8AC3E}">
        <p14:creationId xmlns:p14="http://schemas.microsoft.com/office/powerpoint/2010/main" val="19570169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2.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8" name="Rectangle 7"/>
          <p:cNvSpPr/>
          <p:nvPr/>
        </p:nvSpPr>
        <p:spPr>
          <a:xfrm>
            <a:off x="0" y="2019476"/>
            <a:ext cx="12192000" cy="4105941"/>
          </a:xfrm>
          <a:prstGeom prst="rect">
            <a:avLst/>
          </a:prstGeom>
          <a:gradFill flip="none" rotWithShape="1">
            <a:gsLst>
              <a:gs pos="0">
                <a:schemeClr val="bg2">
                  <a:alpha val="0"/>
                </a:schemeClr>
              </a:gs>
              <a:gs pos="100000">
                <a:schemeClr val="bg2"/>
              </a:gs>
            </a:gsLst>
            <a:lin ang="54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1451579" y="804519"/>
            <a:ext cx="9603275" cy="1049235"/>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1451579" y="2015732"/>
            <a:ext cx="9603275" cy="34506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554139" y="379083"/>
            <a:ext cx="3500715" cy="309201"/>
          </a:xfrm>
          <a:prstGeom prst="rect">
            <a:avLst/>
          </a:prstGeom>
        </p:spPr>
        <p:txBody>
          <a:bodyPr vert="horz" lIns="91440" tIns="45720" rIns="91440" bIns="45720" rtlCol="0" anchor="ctr"/>
          <a:lstStyle>
            <a:lvl1pPr algn="r">
              <a:defRPr sz="1000">
                <a:solidFill>
                  <a:schemeClr val="tx1">
                    <a:tint val="75000"/>
                  </a:schemeClr>
                </a:solidFill>
              </a:defRPr>
            </a:lvl1pPr>
          </a:lstStyle>
          <a:p>
            <a:r>
              <a:rPr lang="en-US"/>
              <a:t>&lt;COURSE TITLE&gt;, &lt;TOPIC NAME&gt;</a:t>
            </a:r>
            <a:endParaRPr lang="en-IN" dirty="0"/>
          </a:p>
        </p:txBody>
      </p:sp>
      <p:sp>
        <p:nvSpPr>
          <p:cNvPr id="6" name="Slide Number Placeholder 5"/>
          <p:cNvSpPr>
            <a:spLocks noGrp="1"/>
          </p:cNvSpPr>
          <p:nvPr>
            <p:ph type="sldNum" sz="quarter" idx="4"/>
          </p:nvPr>
        </p:nvSpPr>
        <p:spPr>
          <a:xfrm>
            <a:off x="5690490" y="6291139"/>
            <a:ext cx="811019" cy="503578"/>
          </a:xfrm>
          <a:prstGeom prst="rect">
            <a:avLst/>
          </a:prstGeom>
        </p:spPr>
        <p:txBody>
          <a:bodyPr vert="horz" lIns="91440" tIns="45720" rIns="91440" bIns="45720" rtlCol="0" anchor="t"/>
          <a:lstStyle>
            <a:lvl1pPr algn="ctr">
              <a:defRPr sz="2200">
                <a:solidFill>
                  <a:schemeClr val="accent1"/>
                </a:solidFill>
              </a:defRPr>
            </a:lvl1pPr>
          </a:lstStyle>
          <a:p>
            <a:fld id="{CBABCCC1-BF11-4F37-963E-1BCD5B23FD72}" type="slidenum">
              <a:rPr lang="en-IN" smtClean="0"/>
              <a:pPr/>
              <a:t>‹#›</a:t>
            </a:fld>
            <a:endParaRPr lang="en-IN" dirty="0"/>
          </a:p>
        </p:txBody>
      </p:sp>
      <p:cxnSp>
        <p:nvCxnSpPr>
          <p:cNvPr id="10" name="Straight Connector 9"/>
          <p:cNvCxnSpPr/>
          <p:nvPr/>
        </p:nvCxnSpPr>
        <p:spPr>
          <a:xfrm>
            <a:off x="0" y="6128413"/>
            <a:ext cx="12192000" cy="0"/>
          </a:xfrm>
          <a:prstGeom prst="line">
            <a:avLst/>
          </a:prstGeom>
          <a:ln w="12700">
            <a:solidFill>
              <a:srgbClr val="000001">
                <a:alpha val="20000"/>
              </a:srgbClr>
            </a:solidFill>
          </a:ln>
        </p:spPr>
        <p:style>
          <a:lnRef idx="1">
            <a:schemeClr val="accent1"/>
          </a:lnRef>
          <a:fillRef idx="0">
            <a:schemeClr val="accent1"/>
          </a:fillRef>
          <a:effectRef idx="0">
            <a:schemeClr val="accent1"/>
          </a:effectRef>
          <a:fontRef idx="minor">
            <a:schemeClr val="tx1"/>
          </a:fontRef>
        </p:style>
      </p:cxnSp>
      <p:pic>
        <p:nvPicPr>
          <p:cNvPr id="9" name="Picture 8" descr="Icon&#10;&#10;Description automatically generated with medium confidence">
            <a:extLst>
              <a:ext uri="{FF2B5EF4-FFF2-40B4-BE49-F238E27FC236}">
                <a16:creationId xmlns:a16="http://schemas.microsoft.com/office/drawing/2014/main" id="{D33DD7EC-6054-A5D7-0F93-3916702EC90E}"/>
              </a:ext>
            </a:extLst>
          </p:cNvPr>
          <p:cNvPicPr>
            <a:picLocks noChangeAspect="1"/>
          </p:cNvPicPr>
          <p:nvPr userDrawn="1"/>
        </p:nvPicPr>
        <p:blipFill>
          <a:blip r:embed="rId14" cstate="hqprint">
            <a:extLst>
              <a:ext uri="{28A0092B-C50C-407E-A947-70E740481C1C}">
                <a14:useLocalDpi xmlns:a14="http://schemas.microsoft.com/office/drawing/2010/main" val="0"/>
              </a:ext>
            </a:extLst>
          </a:blip>
          <a:stretch>
            <a:fillRect/>
          </a:stretch>
        </p:blipFill>
        <p:spPr>
          <a:xfrm>
            <a:off x="77444" y="32699"/>
            <a:ext cx="1218935" cy="500985"/>
          </a:xfrm>
          <a:prstGeom prst="rect">
            <a:avLst/>
          </a:prstGeom>
        </p:spPr>
      </p:pic>
      <p:pic>
        <p:nvPicPr>
          <p:cNvPr id="12" name="Picture 11">
            <a:extLst>
              <a:ext uri="{FF2B5EF4-FFF2-40B4-BE49-F238E27FC236}">
                <a16:creationId xmlns:a16="http://schemas.microsoft.com/office/drawing/2014/main" id="{DB6D7A70-9470-38A5-6785-933F5C089234}"/>
              </a:ext>
            </a:extLst>
          </p:cNvPr>
          <p:cNvPicPr>
            <a:picLocks noChangeAspect="1"/>
          </p:cNvPicPr>
          <p:nvPr userDrawn="1"/>
        </p:nvPicPr>
        <p:blipFill rotWithShape="1">
          <a:blip r:embed="rId15" cstate="hqprint">
            <a:extLst>
              <a:ext uri="{28A0092B-C50C-407E-A947-70E740481C1C}">
                <a14:useLocalDpi xmlns:a14="http://schemas.microsoft.com/office/drawing/2010/main" val="0"/>
              </a:ext>
            </a:extLst>
          </a:blip>
          <a:srcRect l="4360" t="18054" b="50110"/>
          <a:stretch/>
        </p:blipFill>
        <p:spPr>
          <a:xfrm>
            <a:off x="1451579" y="6373097"/>
            <a:ext cx="2912198" cy="351077"/>
          </a:xfrm>
          <a:prstGeom prst="rect">
            <a:avLst/>
          </a:prstGeom>
        </p:spPr>
      </p:pic>
      <p:pic>
        <p:nvPicPr>
          <p:cNvPr id="14" name="Picture 13" descr="Text&#10;&#10;Description automatically generated with medium confidence">
            <a:extLst>
              <a:ext uri="{FF2B5EF4-FFF2-40B4-BE49-F238E27FC236}">
                <a16:creationId xmlns:a16="http://schemas.microsoft.com/office/drawing/2014/main" id="{A51BE3ED-273E-B0A1-FC3A-EE01E1A92D27}"/>
              </a:ext>
            </a:extLst>
          </p:cNvPr>
          <p:cNvPicPr>
            <a:picLocks noChangeAspect="1"/>
          </p:cNvPicPr>
          <p:nvPr userDrawn="1"/>
        </p:nvPicPr>
        <p:blipFill rotWithShape="1">
          <a:blip r:embed="rId16" cstate="hqprint">
            <a:extLst>
              <a:ext uri="{28A0092B-C50C-407E-A947-70E740481C1C}">
                <a14:useLocalDpi xmlns:a14="http://schemas.microsoft.com/office/drawing/2010/main" val="0"/>
              </a:ext>
            </a:extLst>
          </a:blip>
          <a:srcRect t="53957" r="20929" b="13232"/>
          <a:stretch/>
        </p:blipFill>
        <p:spPr>
          <a:xfrm>
            <a:off x="8825503" y="6373097"/>
            <a:ext cx="2229351" cy="335027"/>
          </a:xfrm>
          <a:prstGeom prst="rect">
            <a:avLst/>
          </a:prstGeom>
        </p:spPr>
      </p:pic>
    </p:spTree>
    <p:extLst>
      <p:ext uri="{BB962C8B-B14F-4D97-AF65-F5344CB8AC3E}">
        <p14:creationId xmlns:p14="http://schemas.microsoft.com/office/powerpoint/2010/main" val="319838023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73" r:id="rId6"/>
    <p:sldLayoutId id="2147483667" r:id="rId7"/>
    <p:sldLayoutId id="2147483668" r:id="rId8"/>
    <p:sldLayoutId id="2147483669" r:id="rId9"/>
    <p:sldLayoutId id="2147483670" r:id="rId10"/>
    <p:sldLayoutId id="2147483671" r:id="rId11"/>
    <p:sldLayoutId id="2147483674" r:id="rId12"/>
  </p:sldLayoutIdLst>
  <p:hf hdr="0" ftr="0" dt="0"/>
  <p:txStyles>
    <p:title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p:titleStyle>
    <p:body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12.xml"/><Relationship Id="rId5" Type="http://schemas.openxmlformats.org/officeDocument/2006/relationships/image" Target="../media/image4.png"/><Relationship Id="rId4" Type="http://schemas.openxmlformats.org/officeDocument/2006/relationships/image" Target="../media/image7.png"/></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16.wmf"/></Relationships>
</file>

<file path=ppt/slides/_rels/slide17.xml.rels><?xml version="1.0" encoding="UTF-8" standalone="yes"?>
<Relationships xmlns="http://schemas.openxmlformats.org/package/2006/relationships"><Relationship Id="rId8" Type="http://schemas.openxmlformats.org/officeDocument/2006/relationships/image" Target="../media/image19.wmf"/><Relationship Id="rId3" Type="http://schemas.openxmlformats.org/officeDocument/2006/relationships/oleObject" Target="../embeddings/oleObject2.bin"/><Relationship Id="rId7" Type="http://schemas.openxmlformats.org/officeDocument/2006/relationships/oleObject" Target="../embeddings/oleObject4.bin"/><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openxmlformats.org/officeDocument/2006/relationships/image" Target="../media/image18.wmf"/><Relationship Id="rId5" Type="http://schemas.openxmlformats.org/officeDocument/2006/relationships/oleObject" Target="../embeddings/oleObject3.bin"/><Relationship Id="rId4" Type="http://schemas.openxmlformats.org/officeDocument/2006/relationships/image" Target="../media/image17.wmf"/><Relationship Id="rId9" Type="http://schemas.openxmlformats.org/officeDocument/2006/relationships/image" Target="../media/image4.png"/></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5.bin"/><Relationship Id="rId7" Type="http://schemas.openxmlformats.org/officeDocument/2006/relationships/image" Target="../media/image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21.wmf"/><Relationship Id="rId5" Type="http://schemas.openxmlformats.org/officeDocument/2006/relationships/oleObject" Target="../embeddings/oleObject6.bin"/><Relationship Id="rId4" Type="http://schemas.openxmlformats.org/officeDocument/2006/relationships/image" Target="../media/image20.wmf"/></Relationships>
</file>

<file path=ppt/slides/_rels/slide19.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4.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A69B8D-BF65-4ADD-F76F-77EA72FFCB8F}"/>
              </a:ext>
            </a:extLst>
          </p:cNvPr>
          <p:cNvSpPr>
            <a:spLocks noGrp="1"/>
          </p:cNvSpPr>
          <p:nvPr>
            <p:ph type="ctrTitle"/>
          </p:nvPr>
        </p:nvSpPr>
        <p:spPr/>
        <p:txBody>
          <a:bodyPr>
            <a:normAutofit fontScale="90000"/>
          </a:bodyPr>
          <a:lstStyle/>
          <a:p>
            <a:pPr lvl="0" algn="ctr"/>
            <a:r>
              <a:rPr lang="en-US" b="1" dirty="0">
                <a:ln/>
                <a:solidFill>
                  <a:srgbClr val="C00000"/>
                </a:solidFill>
                <a:cs typeface="Poppins" panose="00000500000000000000" pitchFamily="2" charset="0"/>
              </a:rPr>
              <a:t>machine learning</a:t>
            </a:r>
            <a:br>
              <a:rPr lang="en-US" b="1" dirty="0">
                <a:ln/>
                <a:solidFill>
                  <a:srgbClr val="C00000"/>
                </a:solidFill>
                <a:cs typeface="Poppins" panose="00000500000000000000" pitchFamily="2" charset="0"/>
              </a:rPr>
            </a:br>
            <a:endParaRPr lang="en-IN" dirty="0"/>
          </a:p>
        </p:txBody>
      </p:sp>
      <p:sp>
        <p:nvSpPr>
          <p:cNvPr id="3" name="Subtitle 2">
            <a:extLst>
              <a:ext uri="{FF2B5EF4-FFF2-40B4-BE49-F238E27FC236}">
                <a16:creationId xmlns:a16="http://schemas.microsoft.com/office/drawing/2014/main" id="{5F640656-3048-2A08-BF39-81705306F79A}"/>
              </a:ext>
            </a:extLst>
          </p:cNvPr>
          <p:cNvSpPr>
            <a:spLocks noGrp="1"/>
          </p:cNvSpPr>
          <p:nvPr>
            <p:ph type="subTitle" idx="1"/>
          </p:nvPr>
        </p:nvSpPr>
        <p:spPr>
          <a:xfrm>
            <a:off x="2859532" y="2847477"/>
            <a:ext cx="7109926" cy="496252"/>
          </a:xfrm>
        </p:spPr>
        <p:txBody>
          <a:bodyPr>
            <a:normAutofit fontScale="25000" lnSpcReduction="20000"/>
          </a:bodyPr>
          <a:lstStyle/>
          <a:p>
            <a:pPr algn="ctr"/>
            <a:r>
              <a:rPr lang="en-US" sz="6600" b="1" dirty="0"/>
              <a:t>Clustering II: Hierarchical Clustering (Agglomerative, Divisive)</a:t>
            </a:r>
            <a:endParaRPr lang="en-IN" dirty="0"/>
          </a:p>
        </p:txBody>
      </p:sp>
      <p:sp>
        <p:nvSpPr>
          <p:cNvPr id="4" name="Google Shape;502;p17">
            <a:extLst>
              <a:ext uri="{FF2B5EF4-FFF2-40B4-BE49-F238E27FC236}">
                <a16:creationId xmlns:a16="http://schemas.microsoft.com/office/drawing/2014/main" id="{DC6AD365-A982-ADC7-6BAE-C758E0873F1C}"/>
              </a:ext>
            </a:extLst>
          </p:cNvPr>
          <p:cNvSpPr/>
          <p:nvPr/>
        </p:nvSpPr>
        <p:spPr>
          <a:xfrm>
            <a:off x="2790257" y="398883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dirty="0">
                <a:solidFill>
                  <a:schemeClr val="lt1"/>
                </a:solidFill>
                <a:latin typeface="Poppins" panose="00000500000000000000" pitchFamily="2" charset="0"/>
                <a:ea typeface="Calibri"/>
                <a:cs typeface="Poppins" panose="00000500000000000000" pitchFamily="2" charset="0"/>
                <a:sym typeface="Calibri"/>
              </a:rPr>
              <a:t>Session-14</a:t>
            </a:r>
            <a:endParaRPr sz="2400" dirty="0">
              <a:solidFill>
                <a:schemeClr val="lt1"/>
              </a:solidFill>
              <a:latin typeface="Poppins" panose="00000500000000000000" pitchFamily="2" charset="0"/>
              <a:ea typeface="Calibri"/>
              <a:cs typeface="Poppins" panose="00000500000000000000" pitchFamily="2" charset="0"/>
              <a:sym typeface="Calibri"/>
            </a:endParaRPr>
          </a:p>
        </p:txBody>
      </p:sp>
      <p:sp>
        <p:nvSpPr>
          <p:cNvPr id="5" name="Google Shape;502;p17">
            <a:extLst>
              <a:ext uri="{FF2B5EF4-FFF2-40B4-BE49-F238E27FC236}">
                <a16:creationId xmlns:a16="http://schemas.microsoft.com/office/drawing/2014/main" id="{5F590C39-6643-9541-35C0-CB0A7E7402EB}"/>
              </a:ext>
            </a:extLst>
          </p:cNvPr>
          <p:cNvSpPr/>
          <p:nvPr/>
        </p:nvSpPr>
        <p:spPr>
          <a:xfrm>
            <a:off x="7925360" y="3988830"/>
            <a:ext cx="2235116" cy="453054"/>
          </a:xfrm>
          <a:prstGeom prst="roundRect">
            <a:avLst>
              <a:gd name="adj" fmla="val 35613"/>
            </a:avLst>
          </a:prstGeom>
          <a:solidFill>
            <a:srgbClr val="C00000"/>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0" marR="0" lvl="0" indent="0" algn="ctr" rtl="0">
              <a:spcBef>
                <a:spcPts val="0"/>
              </a:spcBef>
              <a:spcAft>
                <a:spcPts val="0"/>
              </a:spcAft>
              <a:buNone/>
            </a:pPr>
            <a:r>
              <a:rPr lang="en-US" sz="2400">
                <a:solidFill>
                  <a:schemeClr val="lt1"/>
                </a:solidFill>
                <a:latin typeface="Poppins" panose="00000500000000000000" pitchFamily="2" charset="0"/>
                <a:ea typeface="Calibri"/>
                <a:cs typeface="Poppins" panose="00000500000000000000" pitchFamily="2" charset="0"/>
                <a:sym typeface="Calibri"/>
              </a:rPr>
              <a:t>CO-4</a:t>
            </a:r>
            <a:endParaRPr sz="2400" dirty="0">
              <a:solidFill>
                <a:schemeClr val="lt1"/>
              </a:solidFill>
              <a:latin typeface="Poppins" panose="00000500000000000000" pitchFamily="2" charset="0"/>
              <a:ea typeface="Calibri"/>
              <a:cs typeface="Poppins" panose="00000500000000000000" pitchFamily="2" charset="0"/>
              <a:sym typeface="Calibri"/>
            </a:endParaRPr>
          </a:p>
        </p:txBody>
      </p:sp>
      <p:pic>
        <p:nvPicPr>
          <p:cNvPr id="6" name="Picture 5" descr="EC - Best Private University in Telangana &amp; Andhra Pradesh ...">
            <a:extLst>
              <a:ext uri="{FF2B5EF4-FFF2-40B4-BE49-F238E27FC236}">
                <a16:creationId xmlns:a16="http://schemas.microsoft.com/office/drawing/2014/main" id="{C394B68F-D6C4-71E1-A344-6DFA54721D1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95466" y="27854"/>
            <a:ext cx="1419304" cy="671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309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7D147FC7-F412-BB28-6F09-0FB9E8B6C24F}"/>
              </a:ext>
            </a:extLst>
          </p:cNvPr>
          <p:cNvSpPr/>
          <p:nvPr/>
        </p:nvSpPr>
        <p:spPr>
          <a:xfrm>
            <a:off x="5330822" y="177800"/>
            <a:ext cx="1530350" cy="39052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rPr>
              <a:t>AIM</a:t>
            </a:r>
          </a:p>
        </p:txBody>
      </p:sp>
      <p:sp>
        <p:nvSpPr>
          <p:cNvPr id="5" name="TextBox 4">
            <a:extLst>
              <a:ext uri="{FF2B5EF4-FFF2-40B4-BE49-F238E27FC236}">
                <a16:creationId xmlns:a16="http://schemas.microsoft.com/office/drawing/2014/main" id="{158F19DB-AED9-2E40-C7C3-DFBE1AA5B8A1}"/>
              </a:ext>
            </a:extLst>
          </p:cNvPr>
          <p:cNvSpPr txBox="1"/>
          <p:nvPr/>
        </p:nvSpPr>
        <p:spPr>
          <a:xfrm>
            <a:off x="1752599" y="658929"/>
            <a:ext cx="9026013" cy="794192"/>
          </a:xfrm>
          <a:prstGeom prst="rect">
            <a:avLst/>
          </a:prstGeom>
          <a:gradFill flip="none" rotWithShape="1">
            <a:gsLst>
              <a:gs pos="0">
                <a:schemeClr val="accent1">
                  <a:lumMod val="5000"/>
                  <a:lumOff val="95000"/>
                  <a:alpha val="0"/>
                </a:schemeClr>
              </a:gs>
              <a:gs pos="100000">
                <a:schemeClr val="accent1">
                  <a:lumMod val="30000"/>
                  <a:lumOff val="70000"/>
                </a:schemeClr>
              </a:gs>
            </a:gsLst>
            <a:path path="circle">
              <a:fillToRect l="50000" t="50000" r="50000" b="50000"/>
            </a:path>
            <a:tileRect/>
          </a:gradFill>
          <a:ln cap="rnd">
            <a:solidFill>
              <a:schemeClr val="accent1">
                <a:lumMod val="20000"/>
                <a:lumOff val="80000"/>
              </a:schemeClr>
            </a:solidFill>
            <a:round/>
          </a:ln>
          <a:effectLst>
            <a:outerShdw blurRad="50800" dist="38100" algn="l" rotWithShape="0">
              <a:schemeClr val="accent1">
                <a:lumMod val="40000"/>
                <a:lumOff val="60000"/>
                <a:alpha val="0"/>
              </a:schemeClr>
            </a:outerShdw>
          </a:effectLst>
        </p:spPr>
        <p:txBody>
          <a:bodyPr>
            <a:spAutoFit/>
          </a:bodyPr>
          <a:lstStyle/>
          <a:p>
            <a:pPr>
              <a:lnSpc>
                <a:spcPct val="150000"/>
              </a:lnSpc>
            </a:pPr>
            <a:r>
              <a:rPr lang="en-US" sz="1600" dirty="0">
                <a:latin typeface="Poppins"/>
                <a:cs typeface="Poppins"/>
              </a:rPr>
              <a:t>To familiarize students with the concept of </a:t>
            </a:r>
            <a:r>
              <a:rPr lang="en-US" sz="1600" b="1" dirty="0"/>
              <a:t>Clustering II: Hierarchical Clustering (Agglomerative, Divisive) </a:t>
            </a:r>
            <a:r>
              <a:rPr lang="en-US" sz="1600" dirty="0">
                <a:latin typeface="Poppins"/>
                <a:cs typeface="Poppins"/>
              </a:rPr>
              <a:t>in Machine Learning.</a:t>
            </a:r>
          </a:p>
        </p:txBody>
      </p:sp>
      <p:sp>
        <p:nvSpPr>
          <p:cNvPr id="7" name="Rounded Rectangle 17">
            <a:extLst>
              <a:ext uri="{FF2B5EF4-FFF2-40B4-BE49-F238E27FC236}">
                <a16:creationId xmlns:a16="http://schemas.microsoft.com/office/drawing/2014/main" id="{56E780A3-25E4-3D79-8189-7D552F041C39}"/>
              </a:ext>
            </a:extLst>
          </p:cNvPr>
          <p:cNvSpPr/>
          <p:nvPr/>
        </p:nvSpPr>
        <p:spPr>
          <a:xfrm>
            <a:off x="4160833" y="1531561"/>
            <a:ext cx="3870325" cy="39052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latin typeface="Arial" panose="020B0604020202020204" pitchFamily="34" charset="0"/>
              </a:rPr>
              <a:t>INSTRUCTIONAL OBJECTIVES</a:t>
            </a:r>
            <a:endParaRPr lang="en-US"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9" name="TextBox 8">
            <a:extLst>
              <a:ext uri="{FF2B5EF4-FFF2-40B4-BE49-F238E27FC236}">
                <a16:creationId xmlns:a16="http://schemas.microsoft.com/office/drawing/2014/main" id="{485B38CB-1A9E-F340-41E9-F4D86917DE30}"/>
              </a:ext>
            </a:extLst>
          </p:cNvPr>
          <p:cNvSpPr txBox="1"/>
          <p:nvPr/>
        </p:nvSpPr>
        <p:spPr>
          <a:xfrm>
            <a:off x="1700209" y="2092325"/>
            <a:ext cx="9078404" cy="156966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a:spAutoFit/>
          </a:bodyPr>
          <a:lstStyle/>
          <a:p>
            <a:pPr eaLnBrk="1" fontAlgn="auto" hangingPunct="1">
              <a:lnSpc>
                <a:spcPct val="200000"/>
              </a:lnSpc>
              <a:spcBef>
                <a:spcPts val="0"/>
              </a:spcBef>
              <a:spcAft>
                <a:spcPts val="0"/>
              </a:spcAft>
              <a:defRPr/>
            </a:pPr>
            <a:r>
              <a:rPr lang="en-US" sz="1600" dirty="0">
                <a:latin typeface="Poppins"/>
                <a:cs typeface="Poppins"/>
              </a:rPr>
              <a:t>This unit is designed to:</a:t>
            </a:r>
          </a:p>
          <a:p>
            <a:pPr marL="342900" indent="-342900">
              <a:buFontTx/>
              <a:buAutoNum type="arabicPeriod"/>
              <a:defRPr/>
            </a:pPr>
            <a:r>
              <a:rPr lang="en-US" sz="1600" dirty="0">
                <a:latin typeface="Arial" panose="020B0604020202020204" pitchFamily="34" charset="0"/>
              </a:rPr>
              <a:t>Introduce hierarchical clustering as a connectivity-based approach for grouping data at multiple levels.</a:t>
            </a:r>
          </a:p>
          <a:p>
            <a:pPr marL="342900" indent="-342900">
              <a:buFontTx/>
              <a:buAutoNum type="arabicPeriod"/>
              <a:defRPr/>
            </a:pPr>
            <a:r>
              <a:rPr lang="en-US" sz="1600" dirty="0">
                <a:latin typeface="Arial" panose="020B0604020202020204" pitchFamily="34" charset="0"/>
              </a:rPr>
              <a:t>Explain the agglomerative and divisive methods of building hierarchical structures.</a:t>
            </a:r>
          </a:p>
          <a:p>
            <a:pPr marL="342900" indent="-342900">
              <a:buFontTx/>
              <a:buAutoNum type="arabicPeriod"/>
              <a:defRPr/>
            </a:pPr>
            <a:r>
              <a:rPr lang="en-US" sz="1600" dirty="0">
                <a:latin typeface="Arial" panose="020B0604020202020204" pitchFamily="34" charset="0"/>
              </a:rPr>
              <a:t>Demonstrate the interpretation and visualization of hierarchical clustering using dendrograms.</a:t>
            </a:r>
          </a:p>
        </p:txBody>
      </p:sp>
      <p:pic>
        <p:nvPicPr>
          <p:cNvPr id="11" name="Graphic 10" descr="Bullseye outline">
            <a:extLst>
              <a:ext uri="{FF2B5EF4-FFF2-40B4-BE49-F238E27FC236}">
                <a16:creationId xmlns:a16="http://schemas.microsoft.com/office/drawing/2014/main" id="{0598B924-DC9C-D1BC-4B67-9CF20EA39D6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5813" y="568325"/>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7" name="Graphic 26" descr="Presentation with checklist outline">
            <a:extLst>
              <a:ext uri="{FF2B5EF4-FFF2-40B4-BE49-F238E27FC236}">
                <a16:creationId xmlns:a16="http://schemas.microsoft.com/office/drawing/2014/main" id="{C2EA10EA-FC2A-94DC-6A93-F80368B43E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38200" y="2438400"/>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9" name="Rounded Rectangle 17">
            <a:extLst>
              <a:ext uri="{FF2B5EF4-FFF2-40B4-BE49-F238E27FC236}">
                <a16:creationId xmlns:a16="http://schemas.microsoft.com/office/drawing/2014/main" id="{DEA1C3B0-AC33-4F59-E178-D318F50F2157}"/>
              </a:ext>
            </a:extLst>
          </p:cNvPr>
          <p:cNvSpPr/>
          <p:nvPr/>
        </p:nvSpPr>
        <p:spPr>
          <a:xfrm>
            <a:off x="4160833" y="3823304"/>
            <a:ext cx="3870325" cy="390525"/>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anchor="ctr"/>
          <a:lstStyle/>
          <a:p>
            <a:pPr algn="ctr" eaLnBrk="1" fontAlgn="auto" hangingPunct="1">
              <a:spcBef>
                <a:spcPts val="0"/>
              </a:spcBef>
              <a:spcAft>
                <a:spcPts val="0"/>
              </a:spcAft>
              <a:defRPr/>
            </a:pPr>
            <a:r>
              <a:rPr lang="en-US" dirty="0">
                <a:latin typeface="Arial" panose="020B0604020202020204" pitchFamily="34" charset="0"/>
              </a:rPr>
              <a:t>LEARNING OUTCOMES</a:t>
            </a:r>
            <a:endParaRPr lang="en-US"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31" name="Graphic 30" descr="Idea outline">
            <a:extLst>
              <a:ext uri="{FF2B5EF4-FFF2-40B4-BE49-F238E27FC236}">
                <a16:creationId xmlns:a16="http://schemas.microsoft.com/office/drawing/2014/main" id="{E6063E21-D54D-53C4-2984-23C9A2E48BA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14400" y="4765675"/>
            <a:ext cx="9144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7" name="TextBox 36">
            <a:extLst>
              <a:ext uri="{FF2B5EF4-FFF2-40B4-BE49-F238E27FC236}">
                <a16:creationId xmlns:a16="http://schemas.microsoft.com/office/drawing/2014/main" id="{7DF5197F-369F-9898-27FD-72827E14B6AC}"/>
              </a:ext>
            </a:extLst>
          </p:cNvPr>
          <p:cNvSpPr txBox="1"/>
          <p:nvPr/>
        </p:nvSpPr>
        <p:spPr>
          <a:xfrm>
            <a:off x="1752598" y="4375148"/>
            <a:ext cx="9026013" cy="1569660"/>
          </a:xfrm>
          <a:prstGeom prst="rect">
            <a:avLst/>
          </a:prstGeom>
          <a:gradFill flip="none" rotWithShape="1">
            <a:gsLst>
              <a:gs pos="0">
                <a:schemeClr val="accent1">
                  <a:lumMod val="5000"/>
                  <a:lumOff val="95000"/>
                </a:schemeClr>
              </a:gs>
              <a:gs pos="100000">
                <a:schemeClr val="accent1">
                  <a:lumMod val="30000"/>
                  <a:lumOff val="70000"/>
                </a:schemeClr>
              </a:gs>
            </a:gsLst>
            <a:path path="circle">
              <a:fillToRect l="50000" t="50000" r="50000" b="50000"/>
            </a:path>
            <a:tileRect/>
          </a:gradFill>
          <a:ln>
            <a:solidFill>
              <a:schemeClr val="accent1">
                <a:lumMod val="20000"/>
                <a:lumOff val="80000"/>
              </a:schemeClr>
            </a:solidFill>
          </a:ln>
          <a:effectLst>
            <a:outerShdw blurRad="50800" dist="38100" algn="l" rotWithShape="0">
              <a:schemeClr val="accent1">
                <a:lumMod val="40000"/>
                <a:lumOff val="60000"/>
                <a:alpha val="40000"/>
              </a:schemeClr>
            </a:outerShdw>
          </a:effectLst>
        </p:spPr>
        <p:txBody>
          <a:bodyPr wrap="square">
            <a:spAutoFit/>
          </a:bodyPr>
          <a:lstStyle/>
          <a:p>
            <a:pPr eaLnBrk="1" fontAlgn="auto" hangingPunct="1">
              <a:lnSpc>
                <a:spcPct val="200000"/>
              </a:lnSpc>
              <a:spcBef>
                <a:spcPts val="0"/>
              </a:spcBef>
              <a:spcAft>
                <a:spcPts val="0"/>
              </a:spcAft>
              <a:defRPr/>
            </a:pPr>
            <a:r>
              <a:rPr lang="en-US" sz="1600" dirty="0">
                <a:latin typeface="Arial"/>
                <a:cs typeface="Arial"/>
              </a:rPr>
              <a:t>At the end of this unit, you should be able to:</a:t>
            </a:r>
          </a:p>
          <a:p>
            <a:pPr marL="342900" indent="-342900">
              <a:buFontTx/>
              <a:buAutoNum type="arabicPeriod"/>
              <a:defRPr/>
            </a:pPr>
            <a:r>
              <a:rPr lang="en-US" sz="1600" dirty="0">
                <a:latin typeface="Arial" panose="020B0604020202020204" pitchFamily="34" charset="0"/>
              </a:rPr>
              <a:t>Define hierarchical clustering and differentiate it from partition-based methods like K-Means.</a:t>
            </a:r>
          </a:p>
          <a:p>
            <a:pPr marL="342900" indent="-342900">
              <a:buFontTx/>
              <a:buAutoNum type="arabicPeriod"/>
              <a:defRPr/>
            </a:pPr>
            <a:r>
              <a:rPr lang="en-US" sz="1600" dirty="0">
                <a:latin typeface="Arial" panose="020B0604020202020204" pitchFamily="34" charset="0"/>
              </a:rPr>
              <a:t>Describe the steps involved in agglomerative hierarchical clustering and the role of linkage criteria.</a:t>
            </a:r>
          </a:p>
          <a:p>
            <a:pPr marL="342900" indent="-342900">
              <a:buFontTx/>
              <a:buAutoNum type="arabicPeriod"/>
              <a:defRPr/>
            </a:pPr>
            <a:r>
              <a:rPr lang="en-US" sz="1600" dirty="0">
                <a:latin typeface="Arial" panose="020B0604020202020204" pitchFamily="34" charset="0"/>
              </a:rPr>
              <a:t>Interpret a dendrogram to determine appropriate clusters and understand cluster hierarchy.</a:t>
            </a:r>
          </a:p>
        </p:txBody>
      </p:sp>
      <p:pic>
        <p:nvPicPr>
          <p:cNvPr id="2" name="Picture 1" descr="EC - Best Private University in Telangana &amp; Andhra Pradesh ...">
            <a:extLst>
              <a:ext uri="{FF2B5EF4-FFF2-40B4-BE49-F238E27FC236}">
                <a16:creationId xmlns:a16="http://schemas.microsoft.com/office/drawing/2014/main" id="{BF395132-9033-AF3E-962C-5B225BC44AB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95466" y="27854"/>
            <a:ext cx="1419304" cy="6718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ransition spd="slow">
    <p:fade/>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fade">
                                      <p:cBhvr>
                                        <p:cTn id="12" dur="500"/>
                                        <p:tgtEl>
                                          <p:spTgt spid="11"/>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10" presetClass="entr" presetSubtype="0" fill="hold" nodeType="clickEffect">
                                  <p:stCondLst>
                                    <p:cond delay="0"/>
                                  </p:stCondLst>
                                  <p:childTnLst>
                                    <p:set>
                                      <p:cBhvr>
                                        <p:cTn id="19" dur="1" fill="hold">
                                          <p:stCondLst>
                                            <p:cond delay="0"/>
                                          </p:stCondLst>
                                        </p:cTn>
                                        <p:tgtEl>
                                          <p:spTgt spid="7"/>
                                        </p:tgtEl>
                                        <p:attrNameLst>
                                          <p:attrName>style.visibility</p:attrName>
                                        </p:attrNameLst>
                                      </p:cBhvr>
                                      <p:to>
                                        <p:strVal val="visible"/>
                                      </p:to>
                                    </p:set>
                                    <p:animEffect transition="in" filter="fade">
                                      <p:cBhvr>
                                        <p:cTn id="20" dur="500"/>
                                        <p:tgtEl>
                                          <p:spTgt spid="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0" presetClass="entr" presetSubtype="0" fill="hold" nodeType="clickEffect">
                                  <p:stCondLst>
                                    <p:cond delay="0"/>
                                  </p:stCondLst>
                                  <p:childTnLst>
                                    <p:set>
                                      <p:cBhvr>
                                        <p:cTn id="24" dur="1" fill="hold">
                                          <p:stCondLst>
                                            <p:cond delay="0"/>
                                          </p:stCondLst>
                                        </p:cTn>
                                        <p:tgtEl>
                                          <p:spTgt spid="9"/>
                                        </p:tgtEl>
                                        <p:attrNameLst>
                                          <p:attrName>style.visibility</p:attrName>
                                        </p:attrNameLst>
                                      </p:cBhvr>
                                      <p:to>
                                        <p:strVal val="visible"/>
                                      </p:to>
                                    </p:set>
                                    <p:animEffect transition="in" filter="fade">
                                      <p:cBhvr>
                                        <p:cTn id="25" dur="500"/>
                                        <p:tgtEl>
                                          <p:spTgt spid="9"/>
                                        </p:tgtEl>
                                      </p:cBhvr>
                                    </p:animEffect>
                                  </p:childTnLst>
                                </p:cTn>
                              </p:par>
                              <p:par>
                                <p:cTn id="26" presetID="10" presetClass="entr" presetSubtype="0" fill="hold" nodeType="withEffect">
                                  <p:stCondLst>
                                    <p:cond delay="0"/>
                                  </p:stCondLst>
                                  <p:childTnLst>
                                    <p:set>
                                      <p:cBhvr>
                                        <p:cTn id="27" dur="1" fill="hold">
                                          <p:stCondLst>
                                            <p:cond delay="0"/>
                                          </p:stCondLst>
                                        </p:cTn>
                                        <p:tgtEl>
                                          <p:spTgt spid="27"/>
                                        </p:tgtEl>
                                        <p:attrNameLst>
                                          <p:attrName>style.visibility</p:attrName>
                                        </p:attrNameLst>
                                      </p:cBhvr>
                                      <p:to>
                                        <p:strVal val="visible"/>
                                      </p:to>
                                    </p:set>
                                    <p:animEffect transition="in" filter="fade">
                                      <p:cBhvr>
                                        <p:cTn id="28" dur="500"/>
                                        <p:tgtEl>
                                          <p:spTgt spid="2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0" presetClass="entr" presetSubtype="0" fill="hold" nodeType="clickEffect">
                                  <p:stCondLst>
                                    <p:cond delay="0"/>
                                  </p:stCondLst>
                                  <p:childTnLst>
                                    <p:set>
                                      <p:cBhvr>
                                        <p:cTn id="32" dur="1" fill="hold">
                                          <p:stCondLst>
                                            <p:cond delay="0"/>
                                          </p:stCondLst>
                                        </p:cTn>
                                        <p:tgtEl>
                                          <p:spTgt spid="29"/>
                                        </p:tgtEl>
                                        <p:attrNameLst>
                                          <p:attrName>style.visibility</p:attrName>
                                        </p:attrNameLst>
                                      </p:cBhvr>
                                      <p:to>
                                        <p:strVal val="visible"/>
                                      </p:to>
                                    </p:set>
                                    <p:animEffect transition="in" filter="fade">
                                      <p:cBhvr>
                                        <p:cTn id="33" dur="500"/>
                                        <p:tgtEl>
                                          <p:spTgt spid="2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10" presetClass="entr" presetSubtype="0" fill="hold" nodeType="clickEffect">
                                  <p:stCondLst>
                                    <p:cond delay="0"/>
                                  </p:stCondLst>
                                  <p:childTnLst>
                                    <p:set>
                                      <p:cBhvr>
                                        <p:cTn id="37" dur="1" fill="hold">
                                          <p:stCondLst>
                                            <p:cond delay="0"/>
                                          </p:stCondLst>
                                        </p:cTn>
                                        <p:tgtEl>
                                          <p:spTgt spid="37"/>
                                        </p:tgtEl>
                                        <p:attrNameLst>
                                          <p:attrName>style.visibility</p:attrName>
                                        </p:attrNameLst>
                                      </p:cBhvr>
                                      <p:to>
                                        <p:strVal val="visible"/>
                                      </p:to>
                                    </p:set>
                                    <p:animEffect transition="in" filter="fade">
                                      <p:cBhvr>
                                        <p:cTn id="38" dur="500"/>
                                        <p:tgtEl>
                                          <p:spTgt spid="37"/>
                                        </p:tgtEl>
                                      </p:cBhvr>
                                    </p:animEffect>
                                  </p:childTnLst>
                                </p:cTn>
                              </p:par>
                              <p:par>
                                <p:cTn id="39" presetID="10" presetClass="entr" presetSubtype="0" fill="hold" nodeType="withEffect">
                                  <p:stCondLst>
                                    <p:cond delay="0"/>
                                  </p:stCondLst>
                                  <p:childTnLst>
                                    <p:set>
                                      <p:cBhvr>
                                        <p:cTn id="40" dur="1" fill="hold">
                                          <p:stCondLst>
                                            <p:cond delay="0"/>
                                          </p:stCondLst>
                                        </p:cTn>
                                        <p:tgtEl>
                                          <p:spTgt spid="31"/>
                                        </p:tgtEl>
                                        <p:attrNameLst>
                                          <p:attrName>style.visibility</p:attrName>
                                        </p:attrNameLst>
                                      </p:cBhvr>
                                      <p:to>
                                        <p:strVal val="visible"/>
                                      </p:to>
                                    </p:set>
                                    <p:animEffect transition="in" filter="fade">
                                      <p:cBhvr>
                                        <p:cTn id="41"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29"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5" name="Rectangle 1"/>
          <p:cNvSpPr>
            <a:spLocks noChangeArrowheads="1"/>
          </p:cNvSpPr>
          <p:nvPr/>
        </p:nvSpPr>
        <p:spPr bwMode="auto">
          <a:xfrm>
            <a:off x="849442" y="1120150"/>
            <a:ext cx="10686236" cy="1622047"/>
          </a:xfrm>
          <a:prstGeom prst="rect">
            <a:avLst/>
          </a:prstGeom>
          <a:solidFill>
            <a:srgbClr val="FFFFFF"/>
          </a:solidFill>
          <a:ln w="9525">
            <a:noFill/>
            <a:miter lim="800000"/>
            <a:headEnd/>
            <a:tailEnd/>
          </a:ln>
          <a:effectLst/>
        </p:spPr>
        <p:txBody>
          <a:bodyPr vert="horz" wrap="square" lIns="0" tIns="0" rIns="0" bIns="0" numCol="1" anchor="ctr" anchorCtr="0" compatLnSpc="1">
            <a:prstTxWarp prst="textNoShape">
              <a:avLst/>
            </a:prstTxWarp>
            <a:spAutoFit/>
          </a:bodyPr>
          <a:lstStyle/>
          <a:p>
            <a:pPr marL="0" marR="0" lvl="0" indent="0" algn="l" defTabSz="914400" rtl="0" eaLnBrk="1" fontAlgn="base" latinLnBrk="0" hangingPunct="1">
              <a:lnSpc>
                <a:spcPct val="150000"/>
              </a:lnSpc>
              <a:spcBef>
                <a:spcPct val="0"/>
              </a:spcBef>
              <a:spcAft>
                <a:spcPct val="0"/>
              </a:spcAft>
              <a:buClrTx/>
              <a:buSzTx/>
              <a:buFontTx/>
              <a:buNone/>
              <a:tabLst/>
            </a:pPr>
            <a:r>
              <a:rPr kumimoji="0" lang="en-US" b="1" i="0" u="none" strike="noStrike" cap="none" normalizeH="0" baseline="0" dirty="0">
                <a:ln>
                  <a:noFill/>
                </a:ln>
                <a:solidFill>
                  <a:srgbClr val="273239"/>
                </a:solidFill>
                <a:effectLst/>
                <a:latin typeface="Aptos Narrow" panose="020B0004020202020204" pitchFamily="34" charset="0"/>
                <a:cs typeface="Arial" pitchFamily="34" charset="0"/>
              </a:rPr>
              <a:t>Hierarchical clustering </a:t>
            </a:r>
            <a:r>
              <a:rPr kumimoji="0" lang="en-US" b="0" i="0" u="none" strike="noStrike" cap="none" normalizeH="0" baseline="0" dirty="0">
                <a:ln>
                  <a:noFill/>
                </a:ln>
                <a:solidFill>
                  <a:srgbClr val="273239"/>
                </a:solidFill>
                <a:effectLst/>
                <a:latin typeface="Aptos Narrow" panose="020B0004020202020204" pitchFamily="34" charset="0"/>
                <a:cs typeface="Arial" pitchFamily="34" charset="0"/>
              </a:rPr>
              <a:t>is used to group similar data points together based on their similarity creating a </a:t>
            </a:r>
            <a:r>
              <a:rPr kumimoji="0" lang="en-US" b="1" i="0" u="none" strike="noStrike" cap="none" normalizeH="0" baseline="0" dirty="0">
                <a:ln>
                  <a:noFill/>
                </a:ln>
                <a:solidFill>
                  <a:srgbClr val="273239"/>
                </a:solidFill>
                <a:effectLst/>
                <a:latin typeface="Aptos Narrow" panose="020B0004020202020204" pitchFamily="34" charset="0"/>
                <a:cs typeface="Arial" pitchFamily="34" charset="0"/>
              </a:rPr>
              <a:t>hierarchy or tree-like structure</a:t>
            </a:r>
            <a:r>
              <a:rPr kumimoji="0" lang="en-US" b="0" i="0" u="none" strike="noStrike" cap="none" normalizeH="0" baseline="0" dirty="0">
                <a:ln>
                  <a:noFill/>
                </a:ln>
                <a:solidFill>
                  <a:srgbClr val="273239"/>
                </a:solidFill>
                <a:effectLst/>
                <a:latin typeface="Aptos Narrow" panose="020B0004020202020204" pitchFamily="34" charset="0"/>
                <a:cs typeface="Arial" pitchFamily="34" charset="0"/>
              </a:rPr>
              <a:t>. </a:t>
            </a:r>
          </a:p>
          <a:p>
            <a:pPr marL="0" marR="0" lvl="0" indent="0" algn="l" defTabSz="914400" rtl="0" eaLnBrk="1" fontAlgn="base" latinLnBrk="0" hangingPunct="1">
              <a:lnSpc>
                <a:spcPct val="150000"/>
              </a:lnSpc>
              <a:spcBef>
                <a:spcPct val="0"/>
              </a:spcBef>
              <a:spcAft>
                <a:spcPct val="0"/>
              </a:spcAft>
              <a:buClrTx/>
              <a:buSzTx/>
              <a:buFontTx/>
              <a:buNone/>
              <a:tabLst/>
            </a:pPr>
            <a:r>
              <a:rPr kumimoji="0" lang="en-US" b="0" i="0" u="none" strike="noStrike" cap="none" normalizeH="0" baseline="0" dirty="0">
                <a:ln>
                  <a:noFill/>
                </a:ln>
                <a:solidFill>
                  <a:srgbClr val="273239"/>
                </a:solidFill>
                <a:effectLst/>
                <a:latin typeface="Aptos Narrow" panose="020B0004020202020204" pitchFamily="34" charset="0"/>
                <a:cs typeface="Arial" pitchFamily="34" charset="0"/>
              </a:rPr>
              <a:t>The key idea is to begin with each data point as its own separate cluster and then progressively merge or split them based on their similarity. </a:t>
            </a:r>
          </a:p>
        </p:txBody>
      </p:sp>
      <p:sp>
        <p:nvSpPr>
          <p:cNvPr id="5" name="Rectangle 4"/>
          <p:cNvSpPr/>
          <p:nvPr/>
        </p:nvSpPr>
        <p:spPr>
          <a:xfrm>
            <a:off x="849442" y="3314440"/>
            <a:ext cx="6473133" cy="1200329"/>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p>
            <a:r>
              <a:rPr lang="en-US" i="1" dirty="0"/>
              <a:t>Imagine you have four fruits with different weights: an </a:t>
            </a:r>
            <a:r>
              <a:rPr lang="en-US" b="1" i="1" dirty="0"/>
              <a:t>apple (100g)</a:t>
            </a:r>
            <a:r>
              <a:rPr lang="en-US" i="1" dirty="0"/>
              <a:t>, </a:t>
            </a:r>
            <a:r>
              <a:rPr lang="en-US" b="1" i="1" dirty="0"/>
              <a:t>a banana (120g), a cherry (50g) and a grape (30g)</a:t>
            </a:r>
            <a:r>
              <a:rPr lang="en-US" i="1" dirty="0"/>
              <a:t>. Hierarchical clustering starts by treating each </a:t>
            </a:r>
            <a:r>
              <a:rPr lang="en-US" b="1" i="1" dirty="0"/>
              <a:t>fruit as its own group</a:t>
            </a:r>
            <a:r>
              <a:rPr lang="en-US" i="1" dirty="0"/>
              <a:t>. </a:t>
            </a:r>
            <a:endParaRPr lang="en-US" dirty="0"/>
          </a:p>
        </p:txBody>
      </p:sp>
      <p:sp>
        <p:nvSpPr>
          <p:cNvPr id="6" name="Rectangle 5"/>
          <p:cNvSpPr/>
          <p:nvPr/>
        </p:nvSpPr>
        <p:spPr>
          <a:xfrm>
            <a:off x="741287" y="4529152"/>
            <a:ext cx="7507977" cy="1298882"/>
          </a:xfrm>
          <a:prstGeom prst="rect">
            <a:avLst/>
          </a:prstGeom>
        </p:spPr>
        <p:txBody>
          <a:bodyPr wrap="square">
            <a:spAutoFit/>
          </a:bodyPr>
          <a:lstStyle/>
          <a:p>
            <a:pPr fontAlgn="base">
              <a:lnSpc>
                <a:spcPct val="150000"/>
              </a:lnSpc>
              <a:buFont typeface="Wingdings" pitchFamily="2" charset="2"/>
              <a:buChar char="§"/>
            </a:pPr>
            <a:r>
              <a:rPr lang="en-US" dirty="0">
                <a:latin typeface="Aptos Narrow" panose="020B0004020202020204" pitchFamily="34" charset="0"/>
              </a:rPr>
              <a:t>  It then merges the closest groups based on their weights.</a:t>
            </a:r>
          </a:p>
          <a:p>
            <a:pPr fontAlgn="base">
              <a:lnSpc>
                <a:spcPct val="150000"/>
              </a:lnSpc>
              <a:buFont typeface="Wingdings" pitchFamily="2" charset="2"/>
              <a:buChar char="§"/>
            </a:pPr>
            <a:r>
              <a:rPr lang="en-US" dirty="0">
                <a:latin typeface="Aptos Narrow" panose="020B0004020202020204" pitchFamily="34" charset="0"/>
              </a:rPr>
              <a:t>  First the cherry and grape are grouped together because they are the lightest.</a:t>
            </a:r>
          </a:p>
          <a:p>
            <a:pPr fontAlgn="base">
              <a:lnSpc>
                <a:spcPct val="150000"/>
              </a:lnSpc>
              <a:buFont typeface="Wingdings" pitchFamily="2" charset="2"/>
              <a:buChar char="§"/>
            </a:pPr>
            <a:r>
              <a:rPr lang="en-US" dirty="0">
                <a:latin typeface="Aptos Narrow" panose="020B0004020202020204" pitchFamily="34" charset="0"/>
              </a:rPr>
              <a:t>  Next the apple and banana are grouped together.</a:t>
            </a:r>
          </a:p>
        </p:txBody>
      </p:sp>
      <p:pic>
        <p:nvPicPr>
          <p:cNvPr id="8" name="Picture 2"/>
          <p:cNvPicPr>
            <a:picLocks noChangeAspect="1" noChangeArrowheads="1"/>
          </p:cNvPicPr>
          <p:nvPr/>
        </p:nvPicPr>
        <p:blipFill>
          <a:blip r:embed="rId2"/>
          <a:srcRect/>
          <a:stretch>
            <a:fillRect/>
          </a:stretch>
        </p:blipFill>
        <p:spPr bwMode="auto">
          <a:xfrm>
            <a:off x="7990782" y="2852068"/>
            <a:ext cx="4091433" cy="2885781"/>
          </a:xfrm>
          <a:prstGeom prst="rect">
            <a:avLst/>
          </a:prstGeom>
          <a:noFill/>
          <a:ln w="9525">
            <a:noFill/>
            <a:miter lim="800000"/>
            <a:headEnd/>
            <a:tailEnd/>
          </a:ln>
          <a:effectLst/>
        </p:spPr>
      </p:pic>
      <p:sp>
        <p:nvSpPr>
          <p:cNvPr id="7" name="TextBox 6">
            <a:extLst>
              <a:ext uri="{FF2B5EF4-FFF2-40B4-BE49-F238E27FC236}">
                <a16:creationId xmlns:a16="http://schemas.microsoft.com/office/drawing/2014/main" id="{738B6694-4301-6876-39FF-4E07811B0B3C}"/>
              </a:ext>
            </a:extLst>
          </p:cNvPr>
          <p:cNvSpPr txBox="1"/>
          <p:nvPr/>
        </p:nvSpPr>
        <p:spPr>
          <a:xfrm>
            <a:off x="741288" y="2852069"/>
            <a:ext cx="6096000" cy="369332"/>
          </a:xfrm>
          <a:prstGeom prst="rect">
            <a:avLst/>
          </a:prstGeom>
          <a:noFill/>
        </p:spPr>
        <p:txBody>
          <a:bodyPr wrap="square">
            <a:spAutoFit/>
          </a:body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b="0" i="0" u="none" strike="noStrike" cap="none" normalizeH="0" baseline="0" dirty="0">
                <a:ln>
                  <a:noFill/>
                </a:ln>
                <a:solidFill>
                  <a:srgbClr val="273239"/>
                </a:solidFill>
                <a:effectLst/>
                <a:latin typeface="Aptos Narrow" panose="020B0004020202020204" pitchFamily="34" charset="0"/>
                <a:cs typeface="Arial" pitchFamily="34" charset="0"/>
              </a:rPr>
              <a:t>Let’s understand this with the help of an example</a:t>
            </a:r>
            <a:endParaRPr kumimoji="0" lang="en-US" sz="2800" b="0" i="0" u="none" strike="noStrike" cap="none" normalizeH="0" baseline="0" dirty="0">
              <a:ln>
                <a:noFill/>
              </a:ln>
              <a:solidFill>
                <a:schemeClr val="tx1"/>
              </a:solidFill>
              <a:effectLst/>
              <a:latin typeface="Aptos Narrow" panose="020B0004020202020204" pitchFamily="34" charset="0"/>
              <a:cs typeface="Arial" pitchFamily="34" charset="0"/>
            </a:endParaRPr>
          </a:p>
        </p:txBody>
      </p:sp>
      <p:sp>
        <p:nvSpPr>
          <p:cNvPr id="2" name="Rounded Rectangle 17">
            <a:extLst>
              <a:ext uri="{FF2B5EF4-FFF2-40B4-BE49-F238E27FC236}">
                <a16:creationId xmlns:a16="http://schemas.microsoft.com/office/drawing/2014/main" id="{44C64BC0-E438-3073-B663-896F123928D7}"/>
              </a:ext>
            </a:extLst>
          </p:cNvPr>
          <p:cNvSpPr/>
          <p:nvPr/>
        </p:nvSpPr>
        <p:spPr>
          <a:xfrm>
            <a:off x="2466698" y="159735"/>
            <a:ext cx="7451723" cy="72972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a:latin typeface="Poppins" panose="00000500000000000000" pitchFamily="2" charset="0"/>
                <a:ea typeface="ＭＳ Ｐゴシック" panose="020B0600070205080204" pitchFamily="34" charset="-128"/>
                <a:cs typeface="Poppins" panose="00000500000000000000" pitchFamily="2" charset="0"/>
              </a:rPr>
              <a:t>Hierarchical Clustering</a:t>
            </a:r>
            <a:endParaRPr lang="en-US" sz="28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3" name="Picture 2" descr="EC - Best Private University in Telangana &amp; Andhra Pradesh ...">
            <a:extLst>
              <a:ext uri="{FF2B5EF4-FFF2-40B4-BE49-F238E27FC236}">
                <a16:creationId xmlns:a16="http://schemas.microsoft.com/office/drawing/2014/main" id="{0C26ACAD-2FAD-96C5-3EE6-7C9B602BF4B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5466" y="27854"/>
            <a:ext cx="1419304" cy="6718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89656" y="1142171"/>
            <a:ext cx="11220090" cy="1477328"/>
          </a:xfrm>
          <a:prstGeom prst="rect">
            <a:avLst/>
          </a:prstGeom>
        </p:spPr>
        <p:txBody>
          <a:bodyPr wrap="square">
            <a:spAutoFit/>
          </a:bodyPr>
          <a:lstStyle/>
          <a:p>
            <a:pPr fontAlgn="base"/>
            <a:r>
              <a:rPr lang="en-US" dirty="0">
                <a:latin typeface="Aptos Narrow" panose="020B0004020202020204" pitchFamily="34" charset="0"/>
              </a:rPr>
              <a:t>A </a:t>
            </a:r>
            <a:r>
              <a:rPr lang="en-US" b="1" dirty="0" err="1">
                <a:latin typeface="Aptos Narrow" panose="020B0004020202020204" pitchFamily="34" charset="0"/>
              </a:rPr>
              <a:t>dendrogram</a:t>
            </a:r>
            <a:r>
              <a:rPr lang="en-US" dirty="0">
                <a:latin typeface="Aptos Narrow" panose="020B0004020202020204" pitchFamily="34" charset="0"/>
              </a:rPr>
              <a:t> is like a family tree for clusters. It shows how individual data points or groups of data merge together. The bottom shows each data point as its own group, and as you move up, similar groups are combined. </a:t>
            </a:r>
          </a:p>
          <a:p>
            <a:pPr fontAlgn="base"/>
            <a:endParaRPr lang="en-US" dirty="0">
              <a:latin typeface="Aptos Narrow" panose="020B0004020202020204" pitchFamily="34" charset="0"/>
            </a:endParaRPr>
          </a:p>
          <a:p>
            <a:pPr fontAlgn="base"/>
            <a:r>
              <a:rPr lang="en-US" dirty="0">
                <a:latin typeface="Aptos Narrow" panose="020B0004020202020204" pitchFamily="34" charset="0"/>
              </a:rPr>
              <a:t>The lower the merge point, the more similar the groups are. It helps you see how things are grouped step by step. The working of the </a:t>
            </a:r>
            <a:r>
              <a:rPr lang="en-US" dirty="0" err="1">
                <a:latin typeface="Aptos Narrow" panose="020B0004020202020204" pitchFamily="34" charset="0"/>
              </a:rPr>
              <a:t>dendrogram</a:t>
            </a:r>
            <a:r>
              <a:rPr lang="en-US" dirty="0">
                <a:latin typeface="Aptos Narrow" panose="020B0004020202020204" pitchFamily="34" charset="0"/>
              </a:rPr>
              <a:t> can be explained using the below diagram:</a:t>
            </a:r>
          </a:p>
        </p:txBody>
      </p:sp>
      <p:pic>
        <p:nvPicPr>
          <p:cNvPr id="20482" name="Picture 2" descr="UntitledDiagram7"/>
          <p:cNvPicPr>
            <a:picLocks noChangeAspect="1" noChangeArrowheads="1"/>
          </p:cNvPicPr>
          <p:nvPr/>
        </p:nvPicPr>
        <p:blipFill>
          <a:blip r:embed="rId2"/>
          <a:srcRect/>
          <a:stretch>
            <a:fillRect/>
          </a:stretch>
        </p:blipFill>
        <p:spPr bwMode="auto">
          <a:xfrm>
            <a:off x="3014907" y="3112807"/>
            <a:ext cx="5067300" cy="1685926"/>
          </a:xfrm>
          <a:prstGeom prst="rect">
            <a:avLst/>
          </a:prstGeom>
          <a:noFill/>
        </p:spPr>
      </p:pic>
      <p:sp>
        <p:nvSpPr>
          <p:cNvPr id="6" name="Rectangle 5"/>
          <p:cNvSpPr/>
          <p:nvPr/>
        </p:nvSpPr>
        <p:spPr>
          <a:xfrm>
            <a:off x="855266" y="5043121"/>
            <a:ext cx="10481467" cy="923330"/>
          </a:xfrm>
          <a:prstGeom prst="rect">
            <a:avLst/>
          </a:prstGeom>
        </p:spPr>
        <p:txBody>
          <a:bodyPr wrap="square">
            <a:spAutoFit/>
          </a:bodyPr>
          <a:lstStyle/>
          <a:p>
            <a:r>
              <a:rPr lang="en-US" dirty="0">
                <a:latin typeface="Aptos Narrow" panose="020B0004020202020204" pitchFamily="34" charset="0"/>
              </a:rPr>
              <a:t>In the above image on the left side there are five points labeled P, Q, R, S and T. These represent individual data points that are being clustered. On the right side there’s a </a:t>
            </a:r>
            <a:r>
              <a:rPr lang="en-US" b="1" dirty="0" err="1">
                <a:latin typeface="Aptos Narrow" panose="020B0004020202020204" pitchFamily="34" charset="0"/>
              </a:rPr>
              <a:t>dendrogram</a:t>
            </a:r>
            <a:r>
              <a:rPr lang="en-US" b="1" dirty="0">
                <a:latin typeface="Aptos Narrow" panose="020B0004020202020204" pitchFamily="34" charset="0"/>
              </a:rPr>
              <a:t> </a:t>
            </a:r>
            <a:r>
              <a:rPr lang="en-US" dirty="0">
                <a:latin typeface="Aptos Narrow" panose="020B0004020202020204" pitchFamily="34" charset="0"/>
              </a:rPr>
              <a:t>which show how these points are grouped together step by step.</a:t>
            </a:r>
          </a:p>
        </p:txBody>
      </p:sp>
      <p:sp>
        <p:nvSpPr>
          <p:cNvPr id="2" name="Rounded Rectangle 17">
            <a:extLst>
              <a:ext uri="{FF2B5EF4-FFF2-40B4-BE49-F238E27FC236}">
                <a16:creationId xmlns:a16="http://schemas.microsoft.com/office/drawing/2014/main" id="{AD96E4A7-6788-1A9A-9522-8CB81C1C6295}"/>
              </a:ext>
            </a:extLst>
          </p:cNvPr>
          <p:cNvSpPr/>
          <p:nvPr/>
        </p:nvSpPr>
        <p:spPr>
          <a:xfrm>
            <a:off x="2370137" y="161822"/>
            <a:ext cx="7451723" cy="72972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ln w="0"/>
                <a:solidFill>
                  <a:schemeClr val="bg1"/>
                </a:solidFill>
                <a:effectLst>
                  <a:outerShdw blurRad="38100" dist="19050" dir="2700000" algn="tl" rotWithShape="0">
                    <a:schemeClr val="dk1">
                      <a:alpha val="40000"/>
                    </a:schemeClr>
                  </a:outerShdw>
                </a:effectLst>
                <a:latin typeface="Poppins" panose="00000500000000000000" pitchFamily="2" charset="0"/>
                <a:ea typeface="ＭＳ Ｐゴシック" panose="020B0600070205080204" pitchFamily="34" charset="-128"/>
                <a:cs typeface="Poppins" panose="00000500000000000000" pitchFamily="2" charset="0"/>
              </a:rPr>
              <a:t>Dendrogram</a:t>
            </a:r>
            <a:endParaRPr lang="en-US" sz="28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3" name="Picture 2" descr="EC - Best Private University in Telangana &amp; Andhra Pradesh ...">
            <a:extLst>
              <a:ext uri="{FF2B5EF4-FFF2-40B4-BE49-F238E27FC236}">
                <a16:creationId xmlns:a16="http://schemas.microsoft.com/office/drawing/2014/main" id="{C944B58A-5409-0E87-0D2F-AC0B8EAD862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5466" y="27854"/>
            <a:ext cx="1419304" cy="6718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511838" y="1293970"/>
            <a:ext cx="11332237" cy="2169825"/>
          </a:xfrm>
          <a:prstGeom prst="rect">
            <a:avLst/>
          </a:prstGeom>
        </p:spPr>
        <p:txBody>
          <a:bodyPr wrap="square">
            <a:spAutoFit/>
          </a:bodyPr>
          <a:lstStyle/>
          <a:p>
            <a:pPr fontAlgn="base">
              <a:lnSpc>
                <a:spcPct val="150000"/>
              </a:lnSpc>
              <a:buFont typeface="Wingdings" pitchFamily="2" charset="2"/>
              <a:buChar char="q"/>
            </a:pPr>
            <a:r>
              <a:rPr lang="en-US" dirty="0">
                <a:latin typeface="Aptos Narrow" panose="020B0004020202020204" pitchFamily="34" charset="0"/>
              </a:rPr>
              <a:t> At the bottom of the </a:t>
            </a:r>
            <a:r>
              <a:rPr lang="en-US" dirty="0" err="1">
                <a:latin typeface="Aptos Narrow" panose="020B0004020202020204" pitchFamily="34" charset="0"/>
              </a:rPr>
              <a:t>dendrogram</a:t>
            </a:r>
            <a:r>
              <a:rPr lang="en-US" dirty="0">
                <a:latin typeface="Aptos Narrow" panose="020B0004020202020204" pitchFamily="34" charset="0"/>
              </a:rPr>
              <a:t> the points P, Q, R, S and T are all separate.</a:t>
            </a:r>
          </a:p>
          <a:p>
            <a:pPr fontAlgn="base">
              <a:lnSpc>
                <a:spcPct val="150000"/>
              </a:lnSpc>
              <a:buFont typeface="Wingdings" pitchFamily="2" charset="2"/>
              <a:buChar char="q"/>
            </a:pPr>
            <a:r>
              <a:rPr lang="en-US" dirty="0">
                <a:latin typeface="Aptos Narrow" panose="020B0004020202020204" pitchFamily="34" charset="0"/>
              </a:rPr>
              <a:t> As you move up, the closest points are merged into a single group.</a:t>
            </a:r>
          </a:p>
          <a:p>
            <a:pPr fontAlgn="base">
              <a:lnSpc>
                <a:spcPct val="150000"/>
              </a:lnSpc>
              <a:buFont typeface="Wingdings" pitchFamily="2" charset="2"/>
              <a:buChar char="q"/>
            </a:pPr>
            <a:r>
              <a:rPr lang="en-US" dirty="0">
                <a:latin typeface="Aptos Narrow" panose="020B0004020202020204" pitchFamily="34" charset="0"/>
              </a:rPr>
              <a:t> The lines connecting the points show how they are progressively merged based on similarity.</a:t>
            </a:r>
          </a:p>
          <a:p>
            <a:pPr fontAlgn="base">
              <a:lnSpc>
                <a:spcPct val="150000"/>
              </a:lnSpc>
              <a:buFont typeface="Wingdings" pitchFamily="2" charset="2"/>
              <a:buChar char="q"/>
            </a:pPr>
            <a:r>
              <a:rPr lang="en-US" dirty="0">
                <a:latin typeface="Aptos Narrow" panose="020B0004020202020204" pitchFamily="34" charset="0"/>
              </a:rPr>
              <a:t> The height at which they are connected shows how similar the points are to each other; the shorter the line the more similar they are</a:t>
            </a:r>
          </a:p>
        </p:txBody>
      </p:sp>
      <p:sp>
        <p:nvSpPr>
          <p:cNvPr id="6" name="Rectangle 5"/>
          <p:cNvSpPr/>
          <p:nvPr/>
        </p:nvSpPr>
        <p:spPr>
          <a:xfrm>
            <a:off x="511838" y="3717174"/>
            <a:ext cx="6096000" cy="369332"/>
          </a:xfrm>
          <a:prstGeom prst="rect">
            <a:avLst/>
          </a:prstGeom>
        </p:spPr>
        <p:txBody>
          <a:bodyPr>
            <a:spAutoFit/>
          </a:bodyPr>
          <a:lstStyle/>
          <a:p>
            <a:pPr fontAlgn="base"/>
            <a:r>
              <a:rPr lang="en-US" b="1" dirty="0">
                <a:latin typeface="Aptos Narrow" panose="020B0004020202020204" pitchFamily="34" charset="0"/>
              </a:rPr>
              <a:t>Types of Hierarchical Clustering</a:t>
            </a:r>
          </a:p>
        </p:txBody>
      </p:sp>
      <p:sp>
        <p:nvSpPr>
          <p:cNvPr id="7" name="Rectangle 6"/>
          <p:cNvSpPr/>
          <p:nvPr/>
        </p:nvSpPr>
        <p:spPr>
          <a:xfrm>
            <a:off x="511838" y="4138125"/>
            <a:ext cx="5230201" cy="1298882"/>
          </a:xfrm>
          <a:prstGeom prst="rect">
            <a:avLst/>
          </a:prstGeom>
        </p:spPr>
        <p:txBody>
          <a:bodyPr wrap="square">
            <a:spAutoFit/>
          </a:bodyPr>
          <a:lstStyle/>
          <a:p>
            <a:pPr fontAlgn="base">
              <a:lnSpc>
                <a:spcPct val="150000"/>
              </a:lnSpc>
            </a:pPr>
            <a:r>
              <a:rPr lang="en-US" dirty="0">
                <a:latin typeface="Aptos Narrow" panose="020B0004020202020204" pitchFamily="34" charset="0"/>
              </a:rPr>
              <a:t>There are two main types of hierarchical clustering.</a:t>
            </a:r>
          </a:p>
          <a:p>
            <a:pPr marL="342900" indent="-342900" fontAlgn="base">
              <a:lnSpc>
                <a:spcPct val="150000"/>
              </a:lnSpc>
              <a:buFont typeface="+mj-lt"/>
              <a:buAutoNum type="arabicPeriod"/>
            </a:pPr>
            <a:r>
              <a:rPr lang="en-US" dirty="0">
                <a:latin typeface="Aptos Narrow" panose="020B0004020202020204" pitchFamily="34" charset="0"/>
              </a:rPr>
              <a:t>Agglomerative Clustering</a:t>
            </a:r>
          </a:p>
          <a:p>
            <a:pPr marL="342900" indent="-342900" fontAlgn="base">
              <a:lnSpc>
                <a:spcPct val="150000"/>
              </a:lnSpc>
              <a:buFont typeface="+mj-lt"/>
              <a:buAutoNum type="arabicPeriod"/>
            </a:pPr>
            <a:r>
              <a:rPr lang="en-US" dirty="0">
                <a:latin typeface="Aptos Narrow" panose="020B0004020202020204" pitchFamily="34" charset="0"/>
              </a:rPr>
              <a:t>Divisive clustering</a:t>
            </a:r>
          </a:p>
        </p:txBody>
      </p:sp>
      <p:sp>
        <p:nvSpPr>
          <p:cNvPr id="22530" name="AutoShape 2" descr="Types-of-Hierarchical-Clustering.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2532" name="AutoShape 4" descr="Types-of-Hierarchical-Clustering.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2534" name="AutoShape 6" descr="https://media.geeksforgeeks.org/wp-content/uploads/20250526124835454679/Types-of-Hierarchical-Clustering.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sp>
        <p:nvSpPr>
          <p:cNvPr id="22536" name="AutoShape 8" descr="https://media.geeksforgeeks.org/wp-content/uploads/20250526124835454679/Types-of-Hierarchical-Clustering.webp"/>
          <p:cNvSpPr>
            <a:spLocks noChangeAspect="1" noChangeArrowheads="1"/>
          </p:cNvSpPr>
          <p:nvPr/>
        </p:nvSpPr>
        <p:spPr bwMode="auto">
          <a:xfrm>
            <a:off x="155575" y="-144463"/>
            <a:ext cx="304800" cy="304801"/>
          </a:xfrm>
          <a:prstGeom prst="rect">
            <a:avLst/>
          </a:prstGeom>
          <a:noFill/>
        </p:spPr>
        <p:txBody>
          <a:bodyPr vert="horz" wrap="square" lIns="91440" tIns="45720" rIns="91440" bIns="45720" numCol="1" anchor="t" anchorCtr="0" compatLnSpc="1">
            <a:prstTxWarp prst="textNoShape">
              <a:avLst/>
            </a:prstTxWarp>
          </a:bodyPr>
          <a:lstStyle/>
          <a:p>
            <a:endParaRPr lang="en-US"/>
          </a:p>
        </p:txBody>
      </p:sp>
      <p:pic>
        <p:nvPicPr>
          <p:cNvPr id="22537" name="Picture 9"/>
          <p:cNvPicPr>
            <a:picLocks noChangeAspect="1" noChangeArrowheads="1"/>
          </p:cNvPicPr>
          <p:nvPr/>
        </p:nvPicPr>
        <p:blipFill>
          <a:blip r:embed="rId2"/>
          <a:srcRect/>
          <a:stretch>
            <a:fillRect/>
          </a:stretch>
        </p:blipFill>
        <p:spPr bwMode="auto">
          <a:xfrm>
            <a:off x="5875058" y="3162519"/>
            <a:ext cx="5724435" cy="2621969"/>
          </a:xfrm>
          <a:prstGeom prst="rect">
            <a:avLst/>
          </a:prstGeom>
          <a:noFill/>
          <a:ln w="9525">
            <a:noFill/>
            <a:miter lim="800000"/>
            <a:headEnd/>
            <a:tailEnd/>
          </a:ln>
          <a:effectLst/>
        </p:spPr>
      </p:pic>
      <p:pic>
        <p:nvPicPr>
          <p:cNvPr id="2" name="Picture 1">
            <a:extLst>
              <a:ext uri="{FF2B5EF4-FFF2-40B4-BE49-F238E27FC236}">
                <a16:creationId xmlns:a16="http://schemas.microsoft.com/office/drawing/2014/main" id="{CA54CE2B-D75A-C362-A062-49DB127F5746}"/>
              </a:ext>
            </a:extLst>
          </p:cNvPr>
          <p:cNvPicPr>
            <a:picLocks noChangeAspect="1"/>
          </p:cNvPicPr>
          <p:nvPr/>
        </p:nvPicPr>
        <p:blipFill>
          <a:blip r:embed="rId3"/>
          <a:stretch>
            <a:fillRect/>
          </a:stretch>
        </p:blipFill>
        <p:spPr>
          <a:xfrm>
            <a:off x="2098258" y="179975"/>
            <a:ext cx="7553599" cy="920576"/>
          </a:xfrm>
          <a:prstGeom prst="rect">
            <a:avLst/>
          </a:prstGeom>
        </p:spPr>
      </p:pic>
      <p:pic>
        <p:nvPicPr>
          <p:cNvPr id="3" name="Picture 2" descr="EC - Best Private University in Telangana &amp; Andhra Pradesh ...">
            <a:extLst>
              <a:ext uri="{FF2B5EF4-FFF2-40B4-BE49-F238E27FC236}">
                <a16:creationId xmlns:a16="http://schemas.microsoft.com/office/drawing/2014/main" id="{3EC918F3-D07D-90FF-A735-D8EFA90D96B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95466" y="27854"/>
            <a:ext cx="1419304" cy="671804"/>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740227" y="103352"/>
            <a:ext cx="7451723" cy="8673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800" dirty="0">
                <a:latin typeface="Poppins" panose="00000500000000000000" pitchFamily="2" charset="0"/>
                <a:cs typeface="Poppins" panose="00000500000000000000" pitchFamily="2" charset="0"/>
              </a:rPr>
              <a:t>Types of hierarchical clustering</a:t>
            </a:r>
            <a:endParaRPr lang="en-US" sz="28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5" name="TextBox 4">
            <a:extLst>
              <a:ext uri="{FF2B5EF4-FFF2-40B4-BE49-F238E27FC236}">
                <a16:creationId xmlns:a16="http://schemas.microsoft.com/office/drawing/2014/main" id="{2D4B2A11-BD07-9618-5A82-D399C1BE9129}"/>
              </a:ext>
            </a:extLst>
          </p:cNvPr>
          <p:cNvSpPr txBox="1"/>
          <p:nvPr/>
        </p:nvSpPr>
        <p:spPr>
          <a:xfrm>
            <a:off x="1467293" y="1860108"/>
            <a:ext cx="9675627" cy="3785652"/>
          </a:xfrm>
          <a:prstGeom prst="rect">
            <a:avLst/>
          </a:prstGeom>
          <a:noFill/>
        </p:spPr>
        <p:txBody>
          <a:bodyPr wrap="square">
            <a:spAutoFit/>
          </a:bodyPr>
          <a:lstStyle/>
          <a:p>
            <a:pPr marL="457200" indent="-457200">
              <a:buFont typeface="Arial" panose="020B0604020202020204" pitchFamily="34" charset="0"/>
              <a:buChar char="•"/>
            </a:pPr>
            <a:r>
              <a:rPr lang="en-US" altLang="zh-CN" sz="2000" dirty="0">
                <a:solidFill>
                  <a:srgbClr val="FF0000"/>
                </a:solidFill>
                <a:latin typeface="Poppins" panose="00000500000000000000" pitchFamily="2" charset="0"/>
                <a:ea typeface="宋体" panose="02010600030101010101" pitchFamily="2" charset="-122"/>
                <a:cs typeface="Poppins" panose="00000500000000000000" pitchFamily="2" charset="0"/>
              </a:rPr>
              <a:t>Agglomerative (bottom up) clustering</a:t>
            </a:r>
            <a:r>
              <a:rPr lang="en-US" altLang="zh-CN" sz="2000" dirty="0">
                <a:latin typeface="Poppins" panose="00000500000000000000" pitchFamily="2" charset="0"/>
                <a:ea typeface="宋体" panose="02010600030101010101" pitchFamily="2" charset="-122"/>
                <a:cs typeface="Poppins" panose="00000500000000000000" pitchFamily="2" charset="0"/>
              </a:rPr>
              <a:t>: It builds the dendrogram (tree) from the bottom level, and </a:t>
            </a:r>
          </a:p>
          <a:p>
            <a:pPr marL="800100" lvl="1" indent="-342900">
              <a:buFont typeface="Wingdings" panose="05000000000000000000" pitchFamily="2" charset="2"/>
              <a:buChar char="§"/>
            </a:pPr>
            <a:r>
              <a:rPr lang="en-US" altLang="zh-CN" sz="2000" dirty="0">
                <a:latin typeface="Poppins" panose="00000500000000000000" pitchFamily="2" charset="0"/>
                <a:ea typeface="宋体" panose="02010600030101010101" pitchFamily="2" charset="-122"/>
                <a:cs typeface="Poppins" panose="00000500000000000000" pitchFamily="2" charset="0"/>
              </a:rPr>
              <a:t>merges the most similar (or nearest) pair of clusters </a:t>
            </a:r>
          </a:p>
          <a:p>
            <a:pPr marL="800100" lvl="1" indent="-342900">
              <a:buFont typeface="Wingdings" panose="05000000000000000000" pitchFamily="2" charset="2"/>
              <a:buChar char="§"/>
            </a:pPr>
            <a:r>
              <a:rPr lang="en-US" altLang="zh-CN" sz="2000" dirty="0">
                <a:latin typeface="Poppins" panose="00000500000000000000" pitchFamily="2" charset="0"/>
                <a:ea typeface="宋体" panose="02010600030101010101" pitchFamily="2" charset="-122"/>
                <a:cs typeface="Poppins" panose="00000500000000000000" pitchFamily="2" charset="0"/>
              </a:rPr>
              <a:t>stops when all the data points are merged into a single cluster (i.e., the root cluster). </a:t>
            </a:r>
          </a:p>
          <a:p>
            <a:pPr lvl="1"/>
            <a:endParaRPr lang="en-US" altLang="zh-CN" sz="2000" b="1" dirty="0">
              <a:latin typeface="Poppins" panose="00000500000000000000" pitchFamily="2" charset="0"/>
              <a:ea typeface="宋体" panose="02010600030101010101" pitchFamily="2" charset="-122"/>
              <a:cs typeface="Poppins" panose="00000500000000000000" pitchFamily="2" charset="0"/>
            </a:endParaRPr>
          </a:p>
          <a:p>
            <a:pPr marL="457200" indent="-457200">
              <a:buFont typeface="Arial" panose="020B0604020202020204" pitchFamily="34" charset="0"/>
              <a:buChar char="•"/>
            </a:pPr>
            <a:r>
              <a:rPr lang="en-US" altLang="zh-CN" sz="2000" dirty="0">
                <a:solidFill>
                  <a:srgbClr val="FF0000"/>
                </a:solidFill>
                <a:latin typeface="Poppins" panose="00000500000000000000" pitchFamily="2" charset="0"/>
                <a:ea typeface="宋体" panose="02010600030101010101" pitchFamily="2" charset="-122"/>
                <a:cs typeface="Poppins" panose="00000500000000000000" pitchFamily="2" charset="0"/>
              </a:rPr>
              <a:t>Divisive (top down) clustering</a:t>
            </a:r>
            <a:r>
              <a:rPr lang="en-US" altLang="zh-CN" sz="2000" dirty="0">
                <a:latin typeface="Poppins" panose="00000500000000000000" pitchFamily="2" charset="0"/>
                <a:ea typeface="宋体" panose="02010600030101010101" pitchFamily="2" charset="-122"/>
                <a:cs typeface="Poppins" panose="00000500000000000000" pitchFamily="2" charset="0"/>
              </a:rPr>
              <a:t>: It starts with all data points in one cluster, the root. </a:t>
            </a:r>
          </a:p>
          <a:p>
            <a:pPr marL="800100" lvl="1" indent="-342900">
              <a:buFont typeface="Wingdings" panose="05000000000000000000" pitchFamily="2" charset="2"/>
              <a:buChar char="§"/>
            </a:pPr>
            <a:r>
              <a:rPr lang="en-US" altLang="zh-CN" sz="2000" dirty="0">
                <a:latin typeface="Poppins" panose="00000500000000000000" pitchFamily="2" charset="0"/>
                <a:ea typeface="宋体" panose="02010600030101010101" pitchFamily="2" charset="-122"/>
                <a:cs typeface="Poppins" panose="00000500000000000000" pitchFamily="2" charset="0"/>
              </a:rPr>
              <a:t>Splits the root into a set of child clusters. Each child cluster is recursively divided further </a:t>
            </a:r>
          </a:p>
          <a:p>
            <a:pPr marL="800100" lvl="1" indent="-342900">
              <a:buFont typeface="Wingdings" panose="05000000000000000000" pitchFamily="2" charset="2"/>
              <a:buChar char="§"/>
            </a:pPr>
            <a:r>
              <a:rPr lang="en-US" altLang="zh-CN" sz="2000" dirty="0">
                <a:latin typeface="Poppins" panose="00000500000000000000" pitchFamily="2" charset="0"/>
                <a:ea typeface="宋体" panose="02010600030101010101" pitchFamily="2" charset="-122"/>
                <a:cs typeface="Poppins" panose="00000500000000000000" pitchFamily="2" charset="0"/>
              </a:rPr>
              <a:t>stops when only singleton clusters of individual data points remain, i.e., each cluster with only a single point </a:t>
            </a:r>
            <a:endParaRPr lang="en-US" altLang="en-US" sz="2000" dirty="0">
              <a:latin typeface="Poppins" panose="00000500000000000000" pitchFamily="2" charset="0"/>
              <a:cs typeface="Poppins" panose="00000500000000000000" pitchFamily="2" charset="0"/>
            </a:endParaRPr>
          </a:p>
        </p:txBody>
      </p:sp>
      <p:pic>
        <p:nvPicPr>
          <p:cNvPr id="2" name="Picture 1" descr="EC - Best Private University in Telangana &amp; Andhra Pradesh ...">
            <a:extLst>
              <a:ext uri="{FF2B5EF4-FFF2-40B4-BE49-F238E27FC236}">
                <a16:creationId xmlns:a16="http://schemas.microsoft.com/office/drawing/2014/main" id="{AFD01B3A-5A97-464E-B344-C26E902B0F1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5466" y="27854"/>
            <a:ext cx="1419304" cy="671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9775009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665276" y="163313"/>
            <a:ext cx="7451723" cy="8673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Poppins" panose="00000500000000000000" pitchFamily="2" charset="0"/>
                <a:ea typeface="宋体" panose="02010600030101010101" pitchFamily="2" charset="-122"/>
                <a:cs typeface="Poppins" panose="00000500000000000000" pitchFamily="2" charset="0"/>
              </a:rPr>
              <a:t>Agglomerative clustering </a:t>
            </a:r>
            <a:endParaRPr lang="en-US" sz="28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4" name="TextBox 3">
            <a:extLst>
              <a:ext uri="{FF2B5EF4-FFF2-40B4-BE49-F238E27FC236}">
                <a16:creationId xmlns:a16="http://schemas.microsoft.com/office/drawing/2014/main" id="{1FBCB1CF-306E-3CC0-1442-61F14CE0FA87}"/>
              </a:ext>
            </a:extLst>
          </p:cNvPr>
          <p:cNvSpPr txBox="1"/>
          <p:nvPr/>
        </p:nvSpPr>
        <p:spPr>
          <a:xfrm>
            <a:off x="1453117" y="1901509"/>
            <a:ext cx="9583478" cy="3477875"/>
          </a:xfrm>
          <a:prstGeom prst="rect">
            <a:avLst/>
          </a:prstGeom>
          <a:noFill/>
        </p:spPr>
        <p:txBody>
          <a:bodyPr wrap="square">
            <a:spAutoFit/>
          </a:bodyPr>
          <a:lstStyle/>
          <a:p>
            <a:endParaRPr lang="en-US" altLang="en-US" sz="2000" dirty="0"/>
          </a:p>
          <a:p>
            <a:pPr marL="342900" indent="-342900">
              <a:buFont typeface="Arial" panose="020B0604020202020204" pitchFamily="34" charset="0"/>
              <a:buChar char="•"/>
            </a:pPr>
            <a:r>
              <a:rPr lang="en-US" altLang="en-US" sz="2000" dirty="0">
                <a:solidFill>
                  <a:srgbClr val="FF0000"/>
                </a:solidFill>
                <a:latin typeface="Poppins" panose="00000500000000000000" pitchFamily="2" charset="0"/>
                <a:cs typeface="Poppins" panose="00000500000000000000" pitchFamily="2" charset="0"/>
              </a:rPr>
              <a:t>It is more popular than divisive methods.</a:t>
            </a:r>
          </a:p>
          <a:p>
            <a:pPr marL="342900" indent="-342900">
              <a:buFont typeface="Arial" panose="020B0604020202020204" pitchFamily="34" charset="0"/>
              <a:buChar char="•"/>
            </a:pPr>
            <a:endParaRPr lang="en-US" altLang="en-US" sz="2000" dirty="0">
              <a:solidFill>
                <a:srgbClr val="FF0000"/>
              </a:solidFill>
              <a:latin typeface="Poppins" panose="00000500000000000000" pitchFamily="2" charset="0"/>
              <a:cs typeface="Poppins" panose="00000500000000000000" pitchFamily="2" charset="0"/>
            </a:endParaRPr>
          </a:p>
          <a:p>
            <a:pPr marL="800100" lvl="1" indent="-342900">
              <a:buFont typeface="Wingdings" panose="05000000000000000000" pitchFamily="2" charset="2"/>
              <a:buChar char="§"/>
            </a:pPr>
            <a:r>
              <a:rPr lang="en-US" altLang="zh-CN" sz="2000" dirty="0">
                <a:latin typeface="Poppins" panose="00000500000000000000" pitchFamily="2" charset="0"/>
                <a:ea typeface="宋体" panose="02010600030101010101" pitchFamily="2" charset="-122"/>
                <a:cs typeface="Poppins" panose="00000500000000000000" pitchFamily="2" charset="0"/>
              </a:rPr>
              <a:t>At the beginning, each data point forms a cluster (also called a node).  </a:t>
            </a:r>
          </a:p>
          <a:p>
            <a:pPr lvl="1"/>
            <a:endParaRPr lang="en-US" altLang="zh-CN" sz="2000" dirty="0">
              <a:latin typeface="Poppins" panose="00000500000000000000" pitchFamily="2" charset="0"/>
              <a:ea typeface="宋体" panose="02010600030101010101" pitchFamily="2" charset="-122"/>
              <a:cs typeface="Poppins" panose="00000500000000000000" pitchFamily="2" charset="0"/>
            </a:endParaRPr>
          </a:p>
          <a:p>
            <a:pPr marL="800100" lvl="1" indent="-342900">
              <a:buFont typeface="Wingdings" panose="05000000000000000000" pitchFamily="2" charset="2"/>
              <a:buChar char="§"/>
            </a:pPr>
            <a:r>
              <a:rPr lang="en-US" altLang="zh-CN" sz="2000" dirty="0">
                <a:latin typeface="Poppins" panose="00000500000000000000" pitchFamily="2" charset="0"/>
                <a:ea typeface="宋体" panose="02010600030101010101" pitchFamily="2" charset="-122"/>
                <a:cs typeface="Poppins" panose="00000500000000000000" pitchFamily="2" charset="0"/>
              </a:rPr>
              <a:t>Merge nodes/clusters that have the least distance.</a:t>
            </a:r>
          </a:p>
          <a:p>
            <a:pPr lvl="1"/>
            <a:endParaRPr lang="en-US" altLang="zh-CN" sz="2000" dirty="0">
              <a:latin typeface="Poppins" panose="00000500000000000000" pitchFamily="2" charset="0"/>
              <a:ea typeface="宋体" panose="02010600030101010101" pitchFamily="2" charset="-122"/>
              <a:cs typeface="Poppins" panose="00000500000000000000" pitchFamily="2" charset="0"/>
            </a:endParaRPr>
          </a:p>
          <a:p>
            <a:pPr marL="800100" lvl="1" indent="-342900">
              <a:buFont typeface="Wingdings" panose="05000000000000000000" pitchFamily="2" charset="2"/>
              <a:buChar char="§"/>
            </a:pPr>
            <a:r>
              <a:rPr lang="en-US" altLang="zh-CN" sz="2000" dirty="0">
                <a:latin typeface="Poppins" panose="00000500000000000000" pitchFamily="2" charset="0"/>
                <a:ea typeface="宋体" panose="02010600030101010101" pitchFamily="2" charset="-122"/>
                <a:cs typeface="Poppins" panose="00000500000000000000" pitchFamily="2" charset="0"/>
              </a:rPr>
              <a:t>Go on merging</a:t>
            </a:r>
          </a:p>
          <a:p>
            <a:pPr lvl="1"/>
            <a:endParaRPr lang="en-US" altLang="zh-CN" sz="2000" dirty="0">
              <a:latin typeface="Poppins" panose="00000500000000000000" pitchFamily="2" charset="0"/>
              <a:ea typeface="宋体" panose="02010600030101010101" pitchFamily="2" charset="-122"/>
              <a:cs typeface="Poppins" panose="00000500000000000000" pitchFamily="2" charset="0"/>
            </a:endParaRPr>
          </a:p>
          <a:p>
            <a:pPr marL="800100" lvl="1" indent="-342900">
              <a:buFont typeface="Wingdings" panose="05000000000000000000" pitchFamily="2" charset="2"/>
              <a:buChar char="§"/>
            </a:pPr>
            <a:r>
              <a:rPr lang="en-US" altLang="zh-CN" sz="2000" dirty="0">
                <a:latin typeface="Poppins" panose="00000500000000000000" pitchFamily="2" charset="0"/>
                <a:ea typeface="宋体" panose="02010600030101010101" pitchFamily="2" charset="-122"/>
                <a:cs typeface="Poppins" panose="00000500000000000000" pitchFamily="2" charset="0"/>
              </a:rPr>
              <a:t>Eventually all nodes belong to one cluster</a:t>
            </a:r>
            <a:endParaRPr lang="en-US" altLang="en-US" sz="2000" dirty="0">
              <a:latin typeface="Poppins" panose="00000500000000000000" pitchFamily="2" charset="0"/>
              <a:ea typeface="宋体" panose="02010600030101010101" pitchFamily="2" charset="-122"/>
              <a:cs typeface="Poppins" panose="00000500000000000000" pitchFamily="2" charset="0"/>
            </a:endParaRPr>
          </a:p>
        </p:txBody>
      </p:sp>
      <p:pic>
        <p:nvPicPr>
          <p:cNvPr id="2" name="Picture 1" descr="EC - Best Private University in Telangana &amp; Andhra Pradesh ...">
            <a:extLst>
              <a:ext uri="{FF2B5EF4-FFF2-40B4-BE49-F238E27FC236}">
                <a16:creationId xmlns:a16="http://schemas.microsoft.com/office/drawing/2014/main" id="{D5004F69-7D3F-2F37-A7A8-C824BB00E8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5466" y="27854"/>
            <a:ext cx="1419304" cy="671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4165605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665276" y="163313"/>
            <a:ext cx="7451723" cy="8673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zh-CN" sz="2800" dirty="0">
                <a:latin typeface="Poppins" panose="00000500000000000000" pitchFamily="2" charset="0"/>
                <a:ea typeface="宋体" panose="02010600030101010101" pitchFamily="2" charset="-122"/>
                <a:cs typeface="Poppins" panose="00000500000000000000" pitchFamily="2" charset="0"/>
              </a:rPr>
              <a:t>Agglomerative clustering algorithm</a:t>
            </a:r>
            <a:endParaRPr lang="en-US" sz="28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3" name="Picture 3">
            <a:extLst>
              <a:ext uri="{FF2B5EF4-FFF2-40B4-BE49-F238E27FC236}">
                <a16:creationId xmlns:a16="http://schemas.microsoft.com/office/drawing/2014/main" id="{E1D6A98B-7CD1-EF7F-6029-B5DB3AC4272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a:xfrm>
            <a:off x="1431852" y="1906771"/>
            <a:ext cx="9626008" cy="4153787"/>
          </a:xfrm>
        </p:spPr>
      </p:pic>
      <p:pic>
        <p:nvPicPr>
          <p:cNvPr id="2" name="Picture 1" descr="EC - Best Private University in Telangana &amp; Andhra Pradesh ...">
            <a:extLst>
              <a:ext uri="{FF2B5EF4-FFF2-40B4-BE49-F238E27FC236}">
                <a16:creationId xmlns:a16="http://schemas.microsoft.com/office/drawing/2014/main" id="{7E5C35FA-DDF7-EC6B-A31C-225E42D066B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95466" y="27854"/>
            <a:ext cx="1419304" cy="671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5006937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665276" y="163313"/>
            <a:ext cx="7451723" cy="8673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800" dirty="0">
                <a:latin typeface="Poppins" panose="00000500000000000000" pitchFamily="2" charset="0"/>
                <a:cs typeface="Poppins" panose="00000500000000000000" pitchFamily="2" charset="0"/>
              </a:rPr>
              <a:t>An example: working of the algorithm</a:t>
            </a:r>
            <a:endParaRPr lang="en-US" sz="28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4" name="Content Placeholder 3">
            <a:extLst>
              <a:ext uri="{FF2B5EF4-FFF2-40B4-BE49-F238E27FC236}">
                <a16:creationId xmlns:a16="http://schemas.microsoft.com/office/drawing/2014/main" id="{E0078BBB-64C7-CA08-BB12-29CC24CF5E39}"/>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tretch>
            <a:fillRect/>
          </a:stretch>
        </p:blipFill>
        <p:spPr>
          <a:xfrm>
            <a:off x="3015284" y="1673447"/>
            <a:ext cx="6751706" cy="4204741"/>
          </a:xfrm>
        </p:spPr>
      </p:pic>
      <p:pic>
        <p:nvPicPr>
          <p:cNvPr id="2" name="Picture 1" descr="EC - Best Private University in Telangana &amp; Andhra Pradesh ...">
            <a:extLst>
              <a:ext uri="{FF2B5EF4-FFF2-40B4-BE49-F238E27FC236}">
                <a16:creationId xmlns:a16="http://schemas.microsoft.com/office/drawing/2014/main" id="{8D83AB03-8BB2-B3F7-B46B-D6B5660F8B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95466" y="27854"/>
            <a:ext cx="1419304" cy="671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6339369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665276" y="163313"/>
            <a:ext cx="7451723" cy="8673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800" dirty="0">
                <a:latin typeface="Poppins" panose="00000500000000000000" pitchFamily="2" charset="0"/>
                <a:cs typeface="Poppins" panose="00000500000000000000" pitchFamily="2" charset="0"/>
              </a:rPr>
              <a:t>Measuring the distance of two clusters</a:t>
            </a:r>
            <a:endParaRPr lang="en-US" sz="28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5" name="TextBox 4">
            <a:extLst>
              <a:ext uri="{FF2B5EF4-FFF2-40B4-BE49-F238E27FC236}">
                <a16:creationId xmlns:a16="http://schemas.microsoft.com/office/drawing/2014/main" id="{C7F788D9-CFDC-999F-617F-54D9EEDDA861}"/>
              </a:ext>
            </a:extLst>
          </p:cNvPr>
          <p:cNvSpPr txBox="1"/>
          <p:nvPr/>
        </p:nvSpPr>
        <p:spPr>
          <a:xfrm>
            <a:off x="1446028" y="1845723"/>
            <a:ext cx="9569302" cy="2554545"/>
          </a:xfrm>
          <a:prstGeom prst="rect">
            <a:avLst/>
          </a:prstGeom>
          <a:noFill/>
        </p:spPr>
        <p:txBody>
          <a:bodyPr wrap="square">
            <a:spAutoFit/>
          </a:bodyPr>
          <a:lstStyle/>
          <a:p>
            <a:pPr marL="342900" indent="-342900">
              <a:buFont typeface="Arial" panose="020B0604020202020204" pitchFamily="34" charset="0"/>
              <a:buChar char="•"/>
            </a:pPr>
            <a:r>
              <a:rPr lang="en-US" altLang="en-US" sz="2000" dirty="0">
                <a:latin typeface="Poppins" panose="00000500000000000000" pitchFamily="2" charset="0"/>
                <a:cs typeface="Poppins" panose="00000500000000000000" pitchFamily="2" charset="0"/>
              </a:rPr>
              <a:t>A few ways to measure distances of two clusters.</a:t>
            </a:r>
          </a:p>
          <a:p>
            <a:endParaRPr lang="en-US" altLang="en-US" sz="2000" dirty="0">
              <a:latin typeface="Poppins" panose="00000500000000000000" pitchFamily="2" charset="0"/>
              <a:cs typeface="Poppins" panose="00000500000000000000" pitchFamily="2" charset="0"/>
            </a:endParaRPr>
          </a:p>
          <a:p>
            <a:pPr marL="342900" indent="-342900">
              <a:buFont typeface="Arial" panose="020B0604020202020204" pitchFamily="34" charset="0"/>
              <a:buChar char="•"/>
            </a:pPr>
            <a:r>
              <a:rPr lang="en-US" altLang="en-US" sz="2000" dirty="0">
                <a:latin typeface="Poppins" panose="00000500000000000000" pitchFamily="2" charset="0"/>
                <a:cs typeface="Poppins" panose="00000500000000000000" pitchFamily="2" charset="0"/>
              </a:rPr>
              <a:t>Results in different variations of the algorithm.</a:t>
            </a:r>
          </a:p>
          <a:p>
            <a:pPr marL="800100" lvl="1" indent="-342900">
              <a:buFont typeface="Wingdings" panose="05000000000000000000" pitchFamily="2" charset="2"/>
              <a:buChar char="§"/>
            </a:pPr>
            <a:r>
              <a:rPr lang="en-US" altLang="en-US" sz="2000" dirty="0">
                <a:latin typeface="Poppins" panose="00000500000000000000" pitchFamily="2" charset="0"/>
                <a:cs typeface="Poppins" panose="00000500000000000000" pitchFamily="2" charset="0"/>
              </a:rPr>
              <a:t>Single link</a:t>
            </a:r>
          </a:p>
          <a:p>
            <a:pPr marL="800100" lvl="1" indent="-342900">
              <a:buFont typeface="Wingdings" panose="05000000000000000000" pitchFamily="2" charset="2"/>
              <a:buChar char="§"/>
            </a:pPr>
            <a:r>
              <a:rPr lang="en-US" altLang="en-US" sz="2000" dirty="0">
                <a:latin typeface="Poppins" panose="00000500000000000000" pitchFamily="2" charset="0"/>
                <a:cs typeface="Poppins" panose="00000500000000000000" pitchFamily="2" charset="0"/>
              </a:rPr>
              <a:t>Complete link</a:t>
            </a:r>
          </a:p>
          <a:p>
            <a:pPr marL="800100" lvl="1" indent="-342900">
              <a:buFont typeface="Wingdings" panose="05000000000000000000" pitchFamily="2" charset="2"/>
              <a:buChar char="§"/>
            </a:pPr>
            <a:r>
              <a:rPr lang="en-US" altLang="en-US" sz="2000" dirty="0">
                <a:latin typeface="Poppins" panose="00000500000000000000" pitchFamily="2" charset="0"/>
                <a:cs typeface="Poppins" panose="00000500000000000000" pitchFamily="2" charset="0"/>
              </a:rPr>
              <a:t>Average link</a:t>
            </a:r>
          </a:p>
          <a:p>
            <a:pPr marL="800100" lvl="1" indent="-342900">
              <a:buFont typeface="Wingdings" panose="05000000000000000000" pitchFamily="2" charset="2"/>
              <a:buChar char="§"/>
            </a:pPr>
            <a:r>
              <a:rPr lang="en-US" altLang="en-US" sz="2000" dirty="0">
                <a:latin typeface="Poppins" panose="00000500000000000000" pitchFamily="2" charset="0"/>
                <a:cs typeface="Poppins" panose="00000500000000000000" pitchFamily="2" charset="0"/>
              </a:rPr>
              <a:t>Centroids</a:t>
            </a:r>
          </a:p>
          <a:p>
            <a:pPr marL="800100" lvl="1" indent="-342900">
              <a:buFont typeface="Wingdings" panose="05000000000000000000" pitchFamily="2" charset="2"/>
              <a:buChar char="§"/>
            </a:pPr>
            <a:r>
              <a:rPr lang="en-US" altLang="en-US" sz="2000" dirty="0">
                <a:latin typeface="Poppins" panose="00000500000000000000" pitchFamily="2" charset="0"/>
                <a:cs typeface="Poppins" panose="00000500000000000000" pitchFamily="2" charset="0"/>
              </a:rPr>
              <a:t>…</a:t>
            </a:r>
          </a:p>
        </p:txBody>
      </p:sp>
      <p:pic>
        <p:nvPicPr>
          <p:cNvPr id="2" name="Picture 1" descr="EC - Best Private University in Telangana &amp; Andhra Pradesh ...">
            <a:extLst>
              <a:ext uri="{FF2B5EF4-FFF2-40B4-BE49-F238E27FC236}">
                <a16:creationId xmlns:a16="http://schemas.microsoft.com/office/drawing/2014/main" id="{3B5FE2BA-D311-6972-2BFC-DC3C7CD605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5466" y="27854"/>
            <a:ext cx="1419304" cy="671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23847215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665276" y="163313"/>
            <a:ext cx="7451723" cy="8673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800" dirty="0">
                <a:latin typeface="Poppins" panose="00000500000000000000" pitchFamily="2" charset="0"/>
                <a:cs typeface="Poppins" panose="00000500000000000000" pitchFamily="2" charset="0"/>
              </a:rPr>
              <a:t>Single link method</a:t>
            </a:r>
            <a:endParaRPr lang="en-US" sz="28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4" name="Picture 4">
            <a:extLst>
              <a:ext uri="{FF2B5EF4-FFF2-40B4-BE49-F238E27FC236}">
                <a16:creationId xmlns:a16="http://schemas.microsoft.com/office/drawing/2014/main" id="{AE3D867A-3FA6-393C-CF04-31E85F635C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6234600" y="3203791"/>
            <a:ext cx="4284662" cy="2318051"/>
          </a:xfrm>
          <a:prstGeom prst="rect">
            <a:avLst/>
          </a:prstGeo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sp>
        <p:nvSpPr>
          <p:cNvPr id="6" name="TextBox 5">
            <a:extLst>
              <a:ext uri="{FF2B5EF4-FFF2-40B4-BE49-F238E27FC236}">
                <a16:creationId xmlns:a16="http://schemas.microsoft.com/office/drawing/2014/main" id="{11DF02BB-E60C-D1B1-92D3-8DBA7C78B0B8}"/>
              </a:ext>
            </a:extLst>
          </p:cNvPr>
          <p:cNvSpPr txBox="1"/>
          <p:nvPr/>
        </p:nvSpPr>
        <p:spPr>
          <a:xfrm>
            <a:off x="1438940" y="1884366"/>
            <a:ext cx="9608287" cy="4093428"/>
          </a:xfrm>
          <a:prstGeom prst="rect">
            <a:avLst/>
          </a:prstGeom>
          <a:noFill/>
        </p:spPr>
        <p:txBody>
          <a:bodyPr wrap="square">
            <a:spAutoFit/>
          </a:bodyPr>
          <a:lstStyle/>
          <a:p>
            <a:pPr marL="342900" indent="-342900">
              <a:buFont typeface="Arial" panose="020B0604020202020204" pitchFamily="34" charset="0"/>
              <a:buChar char="•"/>
            </a:pP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The distance between two clusters is the distance between two </a:t>
            </a:r>
            <a:r>
              <a:rPr lang="en-US" altLang="ja-JP" sz="2000" dirty="0">
                <a:solidFill>
                  <a:srgbClr val="FF0000"/>
                </a:solidFill>
                <a:latin typeface="Poppins" panose="00000500000000000000" pitchFamily="2" charset="0"/>
                <a:ea typeface="ＭＳ Ｐゴシック" panose="020B0600070205080204" pitchFamily="34" charset="-128"/>
                <a:cs typeface="Poppins" panose="00000500000000000000" pitchFamily="2" charset="0"/>
              </a:rPr>
              <a:t>closest data points</a:t>
            </a: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 in the two clusters, one data point from each cluster. </a:t>
            </a:r>
          </a:p>
          <a:p>
            <a:pPr marL="342900" indent="-342900">
              <a:buFont typeface="Arial" panose="020B0604020202020204" pitchFamily="34" charset="0"/>
              <a:buChar char="•"/>
            </a:pP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It can find arbitrarily shaped clusters, but</a:t>
            </a:r>
          </a:p>
          <a:p>
            <a:pPr marL="800100" lvl="1" indent="-342900">
              <a:buFont typeface="Wingdings" panose="05000000000000000000" pitchFamily="2" charset="2"/>
              <a:buChar char="§"/>
            </a:pP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It may cause the undesirable “</a:t>
            </a:r>
            <a:r>
              <a:rPr lang="en-US" altLang="ja-JP" sz="2000" dirty="0">
                <a:solidFill>
                  <a:srgbClr val="3333CC"/>
                </a:solidFill>
                <a:latin typeface="Poppins" panose="00000500000000000000" pitchFamily="2" charset="0"/>
                <a:ea typeface="ＭＳ Ｐゴシック" panose="020B0600070205080204" pitchFamily="34" charset="-128"/>
                <a:cs typeface="Poppins" panose="00000500000000000000" pitchFamily="2" charset="0"/>
              </a:rPr>
              <a:t>chain effect</a:t>
            </a: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 by noisy points</a:t>
            </a:r>
          </a:p>
          <a:p>
            <a:pPr marL="800100" lvl="1" indent="-342900">
              <a:buFont typeface="Wingdings" panose="05000000000000000000" pitchFamily="2" charset="2"/>
              <a:buChar char="§"/>
            </a:pPr>
            <a:endParaRPr lang="en-US" altLang="ja-JP" sz="2000" dirty="0">
              <a:latin typeface="Poppins" panose="00000500000000000000" pitchFamily="2" charset="0"/>
              <a:ea typeface="ＭＳ Ｐゴシック" panose="020B0600070205080204" pitchFamily="34" charset="-128"/>
              <a:cs typeface="Poppins" panose="00000500000000000000" pitchFamily="2" charset="0"/>
            </a:endParaRPr>
          </a:p>
          <a:p>
            <a:pPr marL="800100" lvl="1" indent="-342900">
              <a:buFont typeface="Wingdings" panose="05000000000000000000" pitchFamily="2" charset="2"/>
              <a:buChar char="§"/>
            </a:pPr>
            <a:endParaRPr lang="en-US" altLang="ja-JP" sz="2000" dirty="0">
              <a:latin typeface="Poppins" panose="00000500000000000000" pitchFamily="2" charset="0"/>
              <a:ea typeface="ＭＳ Ｐゴシック" panose="020B0600070205080204" pitchFamily="34" charset="-128"/>
              <a:cs typeface="Poppins" panose="00000500000000000000" pitchFamily="2" charset="0"/>
            </a:endParaRPr>
          </a:p>
          <a:p>
            <a:pPr marL="800100" lvl="1" indent="-342900">
              <a:buFont typeface="Wingdings" panose="05000000000000000000" pitchFamily="2" charset="2"/>
              <a:buChar char="§"/>
            </a:pPr>
            <a:endParaRPr lang="en-US" altLang="ja-JP" sz="2000" dirty="0">
              <a:latin typeface="Poppins" panose="00000500000000000000" pitchFamily="2" charset="0"/>
              <a:ea typeface="ＭＳ Ｐゴシック" panose="020B0600070205080204" pitchFamily="34" charset="-128"/>
              <a:cs typeface="Poppins" panose="00000500000000000000" pitchFamily="2" charset="0"/>
            </a:endParaRPr>
          </a:p>
          <a:p>
            <a:pPr marL="800100" lvl="1" indent="-342900">
              <a:buFont typeface="Wingdings" panose="05000000000000000000" pitchFamily="2" charset="2"/>
              <a:buChar char="§"/>
            </a:pPr>
            <a:endParaRPr lang="en-US" altLang="ja-JP" sz="2000" dirty="0">
              <a:latin typeface="Poppins" panose="00000500000000000000" pitchFamily="2" charset="0"/>
              <a:ea typeface="ＭＳ Ｐゴシック" panose="020B0600070205080204" pitchFamily="34" charset="-128"/>
              <a:cs typeface="Poppins" panose="00000500000000000000" pitchFamily="2" charset="0"/>
            </a:endParaRPr>
          </a:p>
          <a:p>
            <a:pPr lvl="1"/>
            <a:endParaRPr lang="en-US" altLang="ja-JP" sz="2000" dirty="0">
              <a:latin typeface="Poppins" panose="00000500000000000000" pitchFamily="2" charset="0"/>
              <a:ea typeface="ＭＳ Ｐゴシック" panose="020B0600070205080204" pitchFamily="34" charset="-128"/>
              <a:cs typeface="Poppins" panose="00000500000000000000" pitchFamily="2" charset="0"/>
            </a:endParaRPr>
          </a:p>
          <a:p>
            <a:pPr lvl="1"/>
            <a:endParaRPr lang="en-US" altLang="ja-JP" sz="2000" dirty="0">
              <a:latin typeface="Poppins" panose="00000500000000000000" pitchFamily="2" charset="0"/>
              <a:ea typeface="ＭＳ Ｐゴシック" panose="020B0600070205080204" pitchFamily="34" charset="-128"/>
              <a:cs typeface="Poppins" panose="00000500000000000000" pitchFamily="2" charset="0"/>
            </a:endParaRPr>
          </a:p>
          <a:p>
            <a:pPr marL="800100" lvl="1" indent="-342900">
              <a:buFont typeface="Wingdings" panose="05000000000000000000" pitchFamily="2" charset="2"/>
              <a:buChar char="§"/>
            </a:pPr>
            <a:endParaRPr lang="en-US" altLang="ja-JP" sz="2000" dirty="0">
              <a:latin typeface="Poppins" panose="00000500000000000000" pitchFamily="2" charset="0"/>
              <a:ea typeface="ＭＳ Ｐゴシック" panose="020B0600070205080204" pitchFamily="34" charset="-128"/>
              <a:cs typeface="Poppins" panose="00000500000000000000" pitchFamily="2" charset="0"/>
            </a:endParaRPr>
          </a:p>
          <a:p>
            <a:pPr lvl="1"/>
            <a:endParaRPr lang="en-US" altLang="ja-JP" sz="2000" dirty="0">
              <a:latin typeface="Poppins" panose="00000500000000000000" pitchFamily="2" charset="0"/>
              <a:ea typeface="ＭＳ Ｐゴシック" panose="020B0600070205080204" pitchFamily="34" charset="-128"/>
              <a:cs typeface="Poppins" panose="00000500000000000000" pitchFamily="2" charset="0"/>
            </a:endParaRPr>
          </a:p>
          <a:p>
            <a:pPr marL="800100" lvl="1" indent="-342900">
              <a:buFont typeface="Arial" panose="020B0604020202020204" pitchFamily="34" charset="0"/>
              <a:buChar char="•"/>
            </a:pPr>
            <a:r>
              <a:rPr lang="en-US" altLang="en-US" sz="2000" dirty="0">
                <a:latin typeface="Poppins" panose="00000500000000000000" pitchFamily="2" charset="0"/>
                <a:cs typeface="Poppins" panose="00000500000000000000" pitchFamily="2" charset="0"/>
              </a:rPr>
              <a:t>Two natural clusters are split into two</a:t>
            </a:r>
          </a:p>
        </p:txBody>
      </p:sp>
      <p:pic>
        <p:nvPicPr>
          <p:cNvPr id="2" name="Picture 1" descr="EC - Best Private University in Telangana &amp; Andhra Pradesh ...">
            <a:extLst>
              <a:ext uri="{FF2B5EF4-FFF2-40B4-BE49-F238E27FC236}">
                <a16:creationId xmlns:a16="http://schemas.microsoft.com/office/drawing/2014/main" id="{0821ED8E-2D2B-829D-0F9B-65028B84D57D}"/>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95466" y="27854"/>
            <a:ext cx="1419304" cy="671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125984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665276" y="163313"/>
            <a:ext cx="7451723" cy="8673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800" dirty="0">
                <a:latin typeface="Poppins" panose="00000500000000000000" pitchFamily="2" charset="0"/>
                <a:cs typeface="Poppins" panose="00000500000000000000" pitchFamily="2" charset="0"/>
              </a:rPr>
              <a:t>Complete link method</a:t>
            </a:r>
            <a:endParaRPr lang="en-US" sz="28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pic>
        <p:nvPicPr>
          <p:cNvPr id="4" name="Picture 4">
            <a:extLst>
              <a:ext uri="{FF2B5EF4-FFF2-40B4-BE49-F238E27FC236}">
                <a16:creationId xmlns:a16="http://schemas.microsoft.com/office/drawing/2014/main" id="{222AAF42-350C-182C-00D2-5DE78442EABA}"/>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a:xfrm>
            <a:off x="4905919" y="2982346"/>
            <a:ext cx="5437188" cy="2934585"/>
          </a:xfrm>
          <a:prstGeom prst="rect">
            <a:avLst/>
          </a:prstGeom>
          <a:noFill/>
          <a:ln/>
          <a:extLst>
            <a:ext uri="{91240B29-F687-4F45-9708-019B960494DF}">
              <a14:hiddenLine xmlns:a14="http://schemas.microsoft.com/office/drawing/2010/main" w="9525" cap="flat" cmpd="sng" algn="ctr">
                <a:solidFill>
                  <a:schemeClr val="tx1"/>
                </a:solidFill>
                <a:prstDash val="solid"/>
                <a:miter lim="800000"/>
                <a:headEnd/>
                <a:tailEnd/>
              </a14:hiddenLine>
            </a:ext>
          </a:extLst>
        </p:spPr>
      </p:pic>
      <p:sp>
        <p:nvSpPr>
          <p:cNvPr id="8" name="TextBox 7">
            <a:extLst>
              <a:ext uri="{FF2B5EF4-FFF2-40B4-BE49-F238E27FC236}">
                <a16:creationId xmlns:a16="http://schemas.microsoft.com/office/drawing/2014/main" id="{933A986C-844B-51D1-BC5C-BEA1F93620D1}"/>
              </a:ext>
            </a:extLst>
          </p:cNvPr>
          <p:cNvSpPr txBox="1"/>
          <p:nvPr/>
        </p:nvSpPr>
        <p:spPr>
          <a:xfrm>
            <a:off x="1509823" y="1877112"/>
            <a:ext cx="9540949" cy="4083426"/>
          </a:xfrm>
          <a:prstGeom prst="rect">
            <a:avLst/>
          </a:prstGeom>
          <a:noFill/>
        </p:spPr>
        <p:txBody>
          <a:bodyPr wrap="square">
            <a:spAutoFit/>
          </a:bodyPr>
          <a:lstStyle/>
          <a:p>
            <a:pPr marL="342900" indent="-342900">
              <a:lnSpc>
                <a:spcPct val="90000"/>
              </a:lnSpc>
              <a:buFont typeface="Arial" panose="020B0604020202020204" pitchFamily="34" charset="0"/>
              <a:buChar char="•"/>
            </a:pPr>
            <a:r>
              <a:rPr lang="en-US" altLang="ja-JP" sz="1800" dirty="0">
                <a:latin typeface="Poppins" panose="00000500000000000000" pitchFamily="2" charset="0"/>
                <a:ea typeface="ＭＳ Ｐゴシック" panose="020B0600070205080204" pitchFamily="34" charset="-128"/>
                <a:cs typeface="Poppins" panose="00000500000000000000" pitchFamily="2" charset="0"/>
              </a:rPr>
              <a:t>The distance between two clusters is the distance of two </a:t>
            </a:r>
            <a:r>
              <a:rPr lang="en-US" altLang="ja-JP" sz="1800" dirty="0">
                <a:solidFill>
                  <a:srgbClr val="FF0000"/>
                </a:solidFill>
                <a:latin typeface="Poppins" panose="00000500000000000000" pitchFamily="2" charset="0"/>
                <a:ea typeface="ＭＳ Ｐゴシック" panose="020B0600070205080204" pitchFamily="34" charset="-128"/>
                <a:cs typeface="Poppins" panose="00000500000000000000" pitchFamily="2" charset="0"/>
              </a:rPr>
              <a:t>furthest </a:t>
            </a:r>
            <a:r>
              <a:rPr lang="en-US" altLang="ja-JP" sz="1800" dirty="0">
                <a:latin typeface="Poppins" panose="00000500000000000000" pitchFamily="2" charset="0"/>
                <a:ea typeface="ＭＳ Ｐゴシック" panose="020B0600070205080204" pitchFamily="34" charset="-128"/>
                <a:cs typeface="Poppins" panose="00000500000000000000" pitchFamily="2" charset="0"/>
              </a:rPr>
              <a:t>data points in the two clusters. </a:t>
            </a:r>
          </a:p>
          <a:p>
            <a:pPr>
              <a:lnSpc>
                <a:spcPct val="90000"/>
              </a:lnSpc>
            </a:pPr>
            <a:endParaRPr lang="en-US" altLang="ja-JP" sz="1800" dirty="0">
              <a:latin typeface="Poppins" panose="00000500000000000000" pitchFamily="2" charset="0"/>
              <a:ea typeface="ＭＳ Ｐゴシック" panose="020B0600070205080204" pitchFamily="34" charset="-128"/>
              <a:cs typeface="Poppins" panose="00000500000000000000" pitchFamily="2" charset="0"/>
            </a:endParaRPr>
          </a:p>
          <a:p>
            <a:pPr marL="342900" indent="-342900">
              <a:lnSpc>
                <a:spcPct val="90000"/>
              </a:lnSpc>
              <a:buFont typeface="Arial" panose="020B0604020202020204" pitchFamily="34" charset="0"/>
              <a:buChar char="•"/>
            </a:pPr>
            <a:r>
              <a:rPr lang="en-US" altLang="ja-JP" sz="1800" dirty="0">
                <a:latin typeface="Poppins" panose="00000500000000000000" pitchFamily="2" charset="0"/>
                <a:ea typeface="ＭＳ Ｐゴシック" panose="020B0600070205080204" pitchFamily="34" charset="-128"/>
                <a:cs typeface="Poppins" panose="00000500000000000000" pitchFamily="2" charset="0"/>
              </a:rPr>
              <a:t>It is sensitive to outliers because they are far away</a:t>
            </a:r>
          </a:p>
          <a:p>
            <a:pPr marL="342900" indent="-342900">
              <a:lnSpc>
                <a:spcPct val="90000"/>
              </a:lnSpc>
              <a:buFont typeface="Arial" panose="020B0604020202020204" pitchFamily="34" charset="0"/>
              <a:buChar char="•"/>
            </a:pPr>
            <a:endParaRPr lang="en-US" altLang="ja-JP" dirty="0">
              <a:latin typeface="Poppins" panose="00000500000000000000" pitchFamily="2" charset="0"/>
              <a:ea typeface="ＭＳ Ｐゴシック" panose="020B0600070205080204" pitchFamily="34" charset="-128"/>
              <a:cs typeface="Poppins" panose="00000500000000000000" pitchFamily="2" charset="0"/>
            </a:endParaRPr>
          </a:p>
          <a:p>
            <a:pPr marL="342900" indent="-342900">
              <a:lnSpc>
                <a:spcPct val="90000"/>
              </a:lnSpc>
              <a:buFont typeface="Arial" panose="020B0604020202020204" pitchFamily="34" charset="0"/>
              <a:buChar char="•"/>
            </a:pPr>
            <a:endParaRPr lang="en-US" altLang="ja-JP" sz="1800" dirty="0">
              <a:latin typeface="Poppins" panose="00000500000000000000" pitchFamily="2" charset="0"/>
              <a:ea typeface="ＭＳ Ｐゴシック" panose="020B0600070205080204" pitchFamily="34" charset="-128"/>
              <a:cs typeface="Poppins" panose="00000500000000000000" pitchFamily="2" charset="0"/>
            </a:endParaRPr>
          </a:p>
          <a:p>
            <a:pPr marL="342900" indent="-342900">
              <a:lnSpc>
                <a:spcPct val="90000"/>
              </a:lnSpc>
              <a:buFont typeface="Arial" panose="020B0604020202020204" pitchFamily="34" charset="0"/>
              <a:buChar char="•"/>
            </a:pPr>
            <a:endParaRPr lang="en-US" altLang="ja-JP" dirty="0">
              <a:latin typeface="Poppins" panose="00000500000000000000" pitchFamily="2" charset="0"/>
              <a:ea typeface="ＭＳ Ｐゴシック" panose="020B0600070205080204" pitchFamily="34" charset="-128"/>
              <a:cs typeface="Poppins" panose="00000500000000000000" pitchFamily="2" charset="0"/>
            </a:endParaRPr>
          </a:p>
          <a:p>
            <a:pPr marL="342900" indent="-342900">
              <a:lnSpc>
                <a:spcPct val="90000"/>
              </a:lnSpc>
              <a:buFont typeface="Arial" panose="020B0604020202020204" pitchFamily="34" charset="0"/>
              <a:buChar char="•"/>
            </a:pPr>
            <a:endParaRPr lang="en-US" altLang="ja-JP" sz="1800" dirty="0">
              <a:latin typeface="Poppins" panose="00000500000000000000" pitchFamily="2" charset="0"/>
              <a:ea typeface="ＭＳ Ｐゴシック" panose="020B0600070205080204" pitchFamily="34" charset="-128"/>
              <a:cs typeface="Poppins" panose="00000500000000000000" pitchFamily="2" charset="0"/>
            </a:endParaRPr>
          </a:p>
          <a:p>
            <a:pPr marL="342900" indent="-342900">
              <a:lnSpc>
                <a:spcPct val="90000"/>
              </a:lnSpc>
              <a:buFont typeface="Arial" panose="020B0604020202020204" pitchFamily="34" charset="0"/>
              <a:buChar char="•"/>
            </a:pPr>
            <a:endParaRPr lang="en-US" altLang="ja-JP" dirty="0">
              <a:latin typeface="Poppins" panose="00000500000000000000" pitchFamily="2" charset="0"/>
              <a:ea typeface="ＭＳ Ｐゴシック" panose="020B0600070205080204" pitchFamily="34" charset="-128"/>
              <a:cs typeface="Poppins" panose="00000500000000000000" pitchFamily="2" charset="0"/>
            </a:endParaRPr>
          </a:p>
          <a:p>
            <a:pPr marL="342900" indent="-342900">
              <a:lnSpc>
                <a:spcPct val="90000"/>
              </a:lnSpc>
              <a:buFont typeface="Arial" panose="020B0604020202020204" pitchFamily="34" charset="0"/>
              <a:buChar char="•"/>
            </a:pPr>
            <a:endParaRPr lang="en-US" altLang="ja-JP" sz="1800" dirty="0">
              <a:latin typeface="Poppins" panose="00000500000000000000" pitchFamily="2" charset="0"/>
              <a:ea typeface="ＭＳ Ｐゴシック" panose="020B0600070205080204" pitchFamily="34" charset="-128"/>
              <a:cs typeface="Poppins" panose="00000500000000000000" pitchFamily="2" charset="0"/>
            </a:endParaRPr>
          </a:p>
          <a:p>
            <a:pPr>
              <a:lnSpc>
                <a:spcPct val="90000"/>
              </a:lnSpc>
            </a:pPr>
            <a:endParaRPr lang="en-US" altLang="ja-JP" dirty="0">
              <a:latin typeface="Poppins" panose="00000500000000000000" pitchFamily="2" charset="0"/>
              <a:ea typeface="ＭＳ Ｐゴシック" panose="020B0600070205080204" pitchFamily="34" charset="-128"/>
              <a:cs typeface="Poppins" panose="00000500000000000000" pitchFamily="2" charset="0"/>
            </a:endParaRPr>
          </a:p>
          <a:p>
            <a:pPr marL="342900" indent="-342900">
              <a:lnSpc>
                <a:spcPct val="90000"/>
              </a:lnSpc>
              <a:buFont typeface="Arial" panose="020B0604020202020204" pitchFamily="34" charset="0"/>
              <a:buChar char="•"/>
            </a:pPr>
            <a:endParaRPr lang="en-US" altLang="ja-JP" sz="1800" dirty="0">
              <a:latin typeface="Poppins" panose="00000500000000000000" pitchFamily="2" charset="0"/>
              <a:ea typeface="ＭＳ Ｐゴシック" panose="020B0600070205080204" pitchFamily="34" charset="-128"/>
              <a:cs typeface="Poppins" panose="00000500000000000000" pitchFamily="2" charset="0"/>
            </a:endParaRPr>
          </a:p>
          <a:p>
            <a:pPr marL="342900" indent="-342900">
              <a:lnSpc>
                <a:spcPct val="90000"/>
              </a:lnSpc>
              <a:buFont typeface="Arial" panose="020B0604020202020204" pitchFamily="34" charset="0"/>
              <a:buChar char="•"/>
            </a:pPr>
            <a:endParaRPr lang="en-US" altLang="ja-JP" dirty="0">
              <a:latin typeface="Poppins" panose="00000500000000000000" pitchFamily="2" charset="0"/>
              <a:ea typeface="ＭＳ Ｐゴシック" panose="020B0600070205080204" pitchFamily="34" charset="-128"/>
              <a:cs typeface="Poppins" panose="00000500000000000000" pitchFamily="2" charset="0"/>
            </a:endParaRPr>
          </a:p>
          <a:p>
            <a:pPr marL="342900" indent="-342900">
              <a:lnSpc>
                <a:spcPct val="90000"/>
              </a:lnSpc>
              <a:buFont typeface="Arial" panose="020B0604020202020204" pitchFamily="34" charset="0"/>
              <a:buChar char="•"/>
            </a:pPr>
            <a:endParaRPr lang="en-US" altLang="ja-JP" dirty="0">
              <a:latin typeface="Poppins" panose="00000500000000000000" pitchFamily="2" charset="0"/>
              <a:ea typeface="ＭＳ Ｐゴシック" panose="020B0600070205080204" pitchFamily="34" charset="-128"/>
              <a:cs typeface="Poppins" panose="00000500000000000000" pitchFamily="2" charset="0"/>
            </a:endParaRPr>
          </a:p>
          <a:p>
            <a:pPr>
              <a:lnSpc>
                <a:spcPct val="90000"/>
              </a:lnSpc>
            </a:pPr>
            <a:endParaRPr lang="en-US" altLang="ja-JP" dirty="0">
              <a:latin typeface="Poppins" panose="00000500000000000000" pitchFamily="2" charset="0"/>
              <a:ea typeface="ＭＳ Ｐゴシック" panose="020B0600070205080204" pitchFamily="34" charset="-128"/>
              <a:cs typeface="Poppins" panose="00000500000000000000" pitchFamily="2" charset="0"/>
            </a:endParaRPr>
          </a:p>
          <a:p>
            <a:pPr marL="342900" indent="-342900">
              <a:lnSpc>
                <a:spcPct val="90000"/>
              </a:lnSpc>
              <a:buFont typeface="Arial" panose="020B0604020202020204" pitchFamily="34" charset="0"/>
              <a:buChar char="•"/>
            </a:pPr>
            <a:endParaRPr lang="en-US" altLang="ja-JP" sz="1800" dirty="0">
              <a:latin typeface="Poppins" panose="00000500000000000000" pitchFamily="2" charset="0"/>
              <a:ea typeface="ＭＳ Ｐゴシック" panose="020B0600070205080204" pitchFamily="34" charset="-128"/>
              <a:cs typeface="Poppins" panose="00000500000000000000" pitchFamily="2" charset="0"/>
            </a:endParaRPr>
          </a:p>
        </p:txBody>
      </p:sp>
      <p:pic>
        <p:nvPicPr>
          <p:cNvPr id="2" name="Picture 1" descr="EC - Best Private University in Telangana &amp; Andhra Pradesh ...">
            <a:extLst>
              <a:ext uri="{FF2B5EF4-FFF2-40B4-BE49-F238E27FC236}">
                <a16:creationId xmlns:a16="http://schemas.microsoft.com/office/drawing/2014/main" id="{0188B1F9-D52E-BE75-9373-9C8617F1141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0695466" y="27854"/>
            <a:ext cx="1419304" cy="671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61849787"/>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665276" y="163313"/>
            <a:ext cx="7451723" cy="8673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800" dirty="0">
                <a:latin typeface="Poppins" panose="00000500000000000000" pitchFamily="2" charset="0"/>
                <a:cs typeface="Poppins" panose="00000500000000000000" pitchFamily="2" charset="0"/>
              </a:rPr>
              <a:t>Average link and centroid methods</a:t>
            </a:r>
            <a:endParaRPr lang="en-US" sz="28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5" name="TextBox 4">
            <a:extLst>
              <a:ext uri="{FF2B5EF4-FFF2-40B4-BE49-F238E27FC236}">
                <a16:creationId xmlns:a16="http://schemas.microsoft.com/office/drawing/2014/main" id="{0CBA23E3-1AD9-66BA-8A9D-42AFE70637C8}"/>
              </a:ext>
            </a:extLst>
          </p:cNvPr>
          <p:cNvSpPr txBox="1"/>
          <p:nvPr/>
        </p:nvSpPr>
        <p:spPr>
          <a:xfrm>
            <a:off x="1503704" y="1897434"/>
            <a:ext cx="9774865" cy="3418885"/>
          </a:xfrm>
          <a:prstGeom prst="rect">
            <a:avLst/>
          </a:prstGeom>
          <a:noFill/>
        </p:spPr>
        <p:txBody>
          <a:bodyPr wrap="square">
            <a:spAutoFit/>
          </a:bodyPr>
          <a:lstStyle/>
          <a:p>
            <a:pPr marL="342900" indent="-342900">
              <a:lnSpc>
                <a:spcPct val="90000"/>
              </a:lnSpc>
              <a:buFont typeface="Arial" panose="020B0604020202020204" pitchFamily="34" charset="0"/>
              <a:buChar char="•"/>
            </a:pPr>
            <a:r>
              <a:rPr lang="en-US" altLang="en-US" sz="2000" dirty="0">
                <a:solidFill>
                  <a:srgbClr val="FF0000"/>
                </a:solidFill>
                <a:latin typeface="Poppins" panose="00000500000000000000" pitchFamily="2" charset="0"/>
                <a:cs typeface="Poppins" panose="00000500000000000000" pitchFamily="2" charset="0"/>
              </a:rPr>
              <a:t>Average link</a:t>
            </a:r>
            <a:r>
              <a:rPr lang="en-US" altLang="en-US" sz="2000" dirty="0">
                <a:latin typeface="Poppins" panose="00000500000000000000" pitchFamily="2" charset="0"/>
                <a:cs typeface="Poppins" panose="00000500000000000000" pitchFamily="2" charset="0"/>
              </a:rPr>
              <a:t>: </a:t>
            </a: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A compromise between </a:t>
            </a:r>
          </a:p>
          <a:p>
            <a:pPr marL="800100" lvl="1" indent="-342900">
              <a:lnSpc>
                <a:spcPct val="90000"/>
              </a:lnSpc>
              <a:buFont typeface="Wingdings" panose="05000000000000000000" pitchFamily="2" charset="2"/>
              <a:buChar char="§"/>
            </a:pP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the sensitivity of complete-link clustering to outliers and </a:t>
            </a:r>
          </a:p>
          <a:p>
            <a:pPr marL="800100" lvl="1" indent="-342900">
              <a:lnSpc>
                <a:spcPct val="90000"/>
              </a:lnSpc>
              <a:buFont typeface="Wingdings" panose="05000000000000000000" pitchFamily="2" charset="2"/>
              <a:buChar char="§"/>
            </a:pP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the tendency of single-link clustering to form long chains that do not correspond to the intuitive notion of clusters as compact, spherical objects. </a:t>
            </a:r>
          </a:p>
          <a:p>
            <a:pPr marL="800100" lvl="1" indent="-342900">
              <a:lnSpc>
                <a:spcPct val="90000"/>
              </a:lnSpc>
              <a:buFont typeface="Wingdings" panose="05000000000000000000" pitchFamily="2" charset="2"/>
              <a:buChar char="§"/>
            </a:pP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In this method, </a:t>
            </a:r>
            <a:r>
              <a:rPr lang="en-US" altLang="ja-JP" sz="2000" dirty="0">
                <a:solidFill>
                  <a:srgbClr val="3333CC"/>
                </a:solidFill>
                <a:latin typeface="Poppins" panose="00000500000000000000" pitchFamily="2" charset="0"/>
                <a:ea typeface="ＭＳ Ｐゴシック" panose="020B0600070205080204" pitchFamily="34" charset="-128"/>
                <a:cs typeface="Poppins" panose="00000500000000000000" pitchFamily="2" charset="0"/>
              </a:rPr>
              <a:t>the distance between two clusters is the average distance of all pair-wise distances between the data points in two clusters</a:t>
            </a: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 </a:t>
            </a:r>
          </a:p>
          <a:p>
            <a:pPr marL="800100" lvl="1" indent="-342900">
              <a:lnSpc>
                <a:spcPct val="90000"/>
              </a:lnSpc>
              <a:buFont typeface="Wingdings" panose="05000000000000000000" pitchFamily="2" charset="2"/>
              <a:buChar char="§"/>
            </a:pPr>
            <a:endParaRPr lang="en-US" altLang="ja-JP" sz="2000" dirty="0">
              <a:latin typeface="Poppins" panose="00000500000000000000" pitchFamily="2" charset="0"/>
              <a:ea typeface="ＭＳ Ｐゴシック" panose="020B0600070205080204" pitchFamily="34" charset="-128"/>
              <a:cs typeface="Poppins" panose="00000500000000000000" pitchFamily="2" charset="0"/>
            </a:endParaRPr>
          </a:p>
          <a:p>
            <a:pPr lvl="1">
              <a:lnSpc>
                <a:spcPct val="90000"/>
              </a:lnSpc>
            </a:pPr>
            <a:endParaRPr lang="en-US" altLang="ja-JP" sz="2000" dirty="0">
              <a:latin typeface="Poppins" panose="00000500000000000000" pitchFamily="2" charset="0"/>
              <a:ea typeface="ＭＳ Ｐゴシック" panose="020B0600070205080204" pitchFamily="34" charset="-128"/>
              <a:cs typeface="Poppins" panose="00000500000000000000" pitchFamily="2" charset="0"/>
            </a:endParaRPr>
          </a:p>
          <a:p>
            <a:pPr marL="342900" indent="-342900">
              <a:lnSpc>
                <a:spcPct val="90000"/>
              </a:lnSpc>
              <a:buFont typeface="Arial" panose="020B0604020202020204" pitchFamily="34" charset="0"/>
              <a:buChar char="•"/>
            </a:pPr>
            <a:r>
              <a:rPr lang="en-US" altLang="ja-JP" sz="2000" dirty="0">
                <a:solidFill>
                  <a:srgbClr val="FF0000"/>
                </a:solidFill>
                <a:latin typeface="Poppins" panose="00000500000000000000" pitchFamily="2" charset="0"/>
                <a:ea typeface="ＭＳ Ｐゴシック" panose="020B0600070205080204" pitchFamily="34" charset="-128"/>
                <a:cs typeface="Poppins" panose="00000500000000000000" pitchFamily="2" charset="0"/>
              </a:rPr>
              <a:t>Centroid method</a:t>
            </a: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 In this method, the distance between two clusters is the distance between their centroids </a:t>
            </a:r>
            <a:endParaRPr lang="en-US" altLang="en-US" sz="2000" dirty="0">
              <a:latin typeface="Poppins" panose="00000500000000000000" pitchFamily="2" charset="0"/>
              <a:cs typeface="Poppins" panose="00000500000000000000" pitchFamily="2" charset="0"/>
            </a:endParaRPr>
          </a:p>
        </p:txBody>
      </p:sp>
      <p:pic>
        <p:nvPicPr>
          <p:cNvPr id="2" name="Picture 1" descr="EC - Best Private University in Telangana &amp; Andhra Pradesh ...">
            <a:extLst>
              <a:ext uri="{FF2B5EF4-FFF2-40B4-BE49-F238E27FC236}">
                <a16:creationId xmlns:a16="http://schemas.microsoft.com/office/drawing/2014/main" id="{05CAD2B2-C4DC-01E6-1827-0BBA8A30EE3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5466" y="27854"/>
            <a:ext cx="1419304" cy="671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0035504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665276" y="163313"/>
            <a:ext cx="7451723" cy="8673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800" dirty="0">
                <a:latin typeface="Poppins" panose="00000500000000000000" pitchFamily="2" charset="0"/>
                <a:cs typeface="Poppins" panose="00000500000000000000" pitchFamily="2" charset="0"/>
              </a:rPr>
              <a:t>The complexity</a:t>
            </a:r>
            <a:endParaRPr lang="en-US" sz="28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6" name="Content Placeholder 5">
            <a:extLst>
              <a:ext uri="{FF2B5EF4-FFF2-40B4-BE49-F238E27FC236}">
                <a16:creationId xmlns:a16="http://schemas.microsoft.com/office/drawing/2014/main" id="{8A9C88E0-5973-81F3-FE5A-9A72EE201E89}"/>
              </a:ext>
            </a:extLst>
          </p:cNvPr>
          <p:cNvSpPr>
            <a:spLocks noGrp="1"/>
          </p:cNvSpPr>
          <p:nvPr>
            <p:ph idx="1"/>
          </p:nvPr>
        </p:nvSpPr>
        <p:spPr>
          <a:xfrm>
            <a:off x="1467293" y="1842977"/>
            <a:ext cx="9604743" cy="4217581"/>
          </a:xfrm>
        </p:spPr>
        <p:txBody>
          <a:bodyPr/>
          <a:lstStyle/>
          <a:p>
            <a:pPr>
              <a:lnSpc>
                <a:spcPct val="90000"/>
              </a:lnSpc>
            </a:pPr>
            <a:r>
              <a:rPr lang="en-US" altLang="en-US" sz="2000" dirty="0">
                <a:latin typeface="Poppins" panose="00000500000000000000" pitchFamily="2" charset="0"/>
                <a:cs typeface="Poppins" panose="00000500000000000000" pitchFamily="2" charset="0"/>
              </a:rPr>
              <a:t>All the algorithms are at least O(n</a:t>
            </a:r>
            <a:r>
              <a:rPr lang="en-US" altLang="en-US" sz="2000" baseline="30000" dirty="0">
                <a:latin typeface="Poppins" panose="00000500000000000000" pitchFamily="2" charset="0"/>
                <a:cs typeface="Poppins" panose="00000500000000000000" pitchFamily="2" charset="0"/>
              </a:rPr>
              <a:t>2</a:t>
            </a:r>
            <a:r>
              <a:rPr lang="en-US" altLang="en-US" sz="2000" dirty="0">
                <a:latin typeface="Poppins" panose="00000500000000000000" pitchFamily="2" charset="0"/>
                <a:cs typeface="Poppins" panose="00000500000000000000" pitchFamily="2" charset="0"/>
              </a:rPr>
              <a:t>). n is the number of data points.</a:t>
            </a:r>
          </a:p>
          <a:p>
            <a:pPr marL="0" indent="0">
              <a:lnSpc>
                <a:spcPct val="90000"/>
              </a:lnSpc>
              <a:buNone/>
            </a:pPr>
            <a:endParaRPr lang="en-US" altLang="en-US" sz="2000" dirty="0">
              <a:latin typeface="Poppins" panose="00000500000000000000" pitchFamily="2" charset="0"/>
              <a:cs typeface="Poppins" panose="00000500000000000000" pitchFamily="2" charset="0"/>
            </a:endParaRPr>
          </a:p>
          <a:p>
            <a:pPr>
              <a:lnSpc>
                <a:spcPct val="90000"/>
              </a:lnSpc>
            </a:pPr>
            <a:r>
              <a:rPr lang="en-US" altLang="en-US" sz="2000" dirty="0">
                <a:latin typeface="Poppins" panose="00000500000000000000" pitchFamily="2" charset="0"/>
                <a:cs typeface="Poppins" panose="00000500000000000000" pitchFamily="2" charset="0"/>
              </a:rPr>
              <a:t>Single link can be done in O(n</a:t>
            </a:r>
            <a:r>
              <a:rPr lang="en-US" altLang="en-US" sz="2000" baseline="30000" dirty="0">
                <a:latin typeface="Poppins" panose="00000500000000000000" pitchFamily="2" charset="0"/>
                <a:cs typeface="Poppins" panose="00000500000000000000" pitchFamily="2" charset="0"/>
              </a:rPr>
              <a:t>2</a:t>
            </a:r>
            <a:r>
              <a:rPr lang="en-US" altLang="en-US" sz="2000" dirty="0">
                <a:latin typeface="Poppins" panose="00000500000000000000" pitchFamily="2" charset="0"/>
                <a:cs typeface="Poppins" panose="00000500000000000000" pitchFamily="2" charset="0"/>
              </a:rPr>
              <a:t>).</a:t>
            </a:r>
          </a:p>
          <a:p>
            <a:pPr marL="0" indent="0">
              <a:lnSpc>
                <a:spcPct val="90000"/>
              </a:lnSpc>
              <a:buNone/>
            </a:pPr>
            <a:endParaRPr lang="en-US" altLang="en-US" sz="2000" dirty="0">
              <a:latin typeface="Poppins" panose="00000500000000000000" pitchFamily="2" charset="0"/>
              <a:cs typeface="Poppins" panose="00000500000000000000" pitchFamily="2" charset="0"/>
            </a:endParaRPr>
          </a:p>
          <a:p>
            <a:pPr>
              <a:lnSpc>
                <a:spcPct val="90000"/>
              </a:lnSpc>
            </a:pPr>
            <a:r>
              <a:rPr lang="en-US" altLang="en-US" sz="2000" dirty="0">
                <a:latin typeface="Poppins" panose="00000500000000000000" pitchFamily="2" charset="0"/>
                <a:cs typeface="Poppins" panose="00000500000000000000" pitchFamily="2" charset="0"/>
              </a:rPr>
              <a:t>Complete and average links can be done in O(n</a:t>
            </a:r>
            <a:r>
              <a:rPr lang="en-US" altLang="en-US" sz="2000" baseline="30000" dirty="0">
                <a:latin typeface="Poppins" panose="00000500000000000000" pitchFamily="2" charset="0"/>
                <a:cs typeface="Poppins" panose="00000500000000000000" pitchFamily="2" charset="0"/>
              </a:rPr>
              <a:t>2</a:t>
            </a:r>
            <a:r>
              <a:rPr lang="en-US" altLang="en-US" sz="2000" dirty="0">
                <a:latin typeface="Poppins" panose="00000500000000000000" pitchFamily="2" charset="0"/>
                <a:cs typeface="Poppins" panose="00000500000000000000" pitchFamily="2" charset="0"/>
              </a:rPr>
              <a:t>logn).</a:t>
            </a:r>
          </a:p>
          <a:p>
            <a:pPr marL="0" indent="0">
              <a:lnSpc>
                <a:spcPct val="90000"/>
              </a:lnSpc>
              <a:buNone/>
            </a:pPr>
            <a:endParaRPr lang="en-US" altLang="en-US" sz="2000" dirty="0">
              <a:latin typeface="Poppins" panose="00000500000000000000" pitchFamily="2" charset="0"/>
              <a:cs typeface="Poppins" panose="00000500000000000000" pitchFamily="2" charset="0"/>
            </a:endParaRPr>
          </a:p>
          <a:p>
            <a:pPr>
              <a:lnSpc>
                <a:spcPct val="90000"/>
              </a:lnSpc>
            </a:pPr>
            <a:r>
              <a:rPr lang="en-US" altLang="en-US" sz="2000" dirty="0">
                <a:latin typeface="Poppins" panose="00000500000000000000" pitchFamily="2" charset="0"/>
                <a:cs typeface="Poppins" panose="00000500000000000000" pitchFamily="2" charset="0"/>
              </a:rPr>
              <a:t>Due the complexity, hard to use for large data sets.</a:t>
            </a:r>
          </a:p>
          <a:p>
            <a:pPr lvl="1">
              <a:lnSpc>
                <a:spcPct val="90000"/>
              </a:lnSpc>
              <a:buFont typeface="Wingdings" panose="05000000000000000000" pitchFamily="2" charset="2"/>
              <a:buChar char="§"/>
            </a:pPr>
            <a:r>
              <a:rPr lang="en-US" altLang="en-US" sz="2000" dirty="0">
                <a:latin typeface="Poppins" panose="00000500000000000000" pitchFamily="2" charset="0"/>
                <a:cs typeface="Poppins" panose="00000500000000000000" pitchFamily="2" charset="0"/>
              </a:rPr>
              <a:t>Sampling</a:t>
            </a:r>
          </a:p>
          <a:p>
            <a:pPr lvl="1">
              <a:lnSpc>
                <a:spcPct val="90000"/>
              </a:lnSpc>
              <a:buFont typeface="Wingdings" panose="05000000000000000000" pitchFamily="2" charset="2"/>
              <a:buChar char="§"/>
            </a:pPr>
            <a:r>
              <a:rPr lang="en-US" altLang="en-US" sz="2000" dirty="0">
                <a:latin typeface="Poppins" panose="00000500000000000000" pitchFamily="2" charset="0"/>
                <a:cs typeface="Poppins" panose="00000500000000000000" pitchFamily="2" charset="0"/>
              </a:rPr>
              <a:t>Scale-up methods (e.g., BIRCH). </a:t>
            </a:r>
          </a:p>
          <a:p>
            <a:pPr marL="0" indent="0">
              <a:buNone/>
            </a:pPr>
            <a:endParaRPr lang="en-IN" dirty="0"/>
          </a:p>
        </p:txBody>
      </p:sp>
      <p:pic>
        <p:nvPicPr>
          <p:cNvPr id="2" name="Picture 1" descr="EC - Best Private University in Telangana &amp; Andhra Pradesh ...">
            <a:extLst>
              <a:ext uri="{FF2B5EF4-FFF2-40B4-BE49-F238E27FC236}">
                <a16:creationId xmlns:a16="http://schemas.microsoft.com/office/drawing/2014/main" id="{3EED60EA-8052-0375-FB24-0D11C22C81C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5466" y="27854"/>
            <a:ext cx="1419304" cy="671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1620701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665276" y="163313"/>
            <a:ext cx="7451723" cy="8673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800" dirty="0">
                <a:latin typeface="Poppins" panose="00000500000000000000" pitchFamily="2" charset="0"/>
                <a:cs typeface="Poppins" panose="00000500000000000000" pitchFamily="2" charset="0"/>
              </a:rPr>
              <a:t>Distance functions</a:t>
            </a:r>
            <a:endParaRPr lang="en-US" sz="28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5" name="TextBox 4">
            <a:extLst>
              <a:ext uri="{FF2B5EF4-FFF2-40B4-BE49-F238E27FC236}">
                <a16:creationId xmlns:a16="http://schemas.microsoft.com/office/drawing/2014/main" id="{E9C9E018-1C63-01F2-6D5A-BAF54D297B19}"/>
              </a:ext>
            </a:extLst>
          </p:cNvPr>
          <p:cNvSpPr txBox="1"/>
          <p:nvPr/>
        </p:nvSpPr>
        <p:spPr>
          <a:xfrm>
            <a:off x="1481469" y="1845723"/>
            <a:ext cx="9618921" cy="2862322"/>
          </a:xfrm>
          <a:prstGeom prst="rect">
            <a:avLst/>
          </a:prstGeom>
          <a:noFill/>
        </p:spPr>
        <p:txBody>
          <a:bodyPr wrap="square">
            <a:spAutoFit/>
          </a:bodyPr>
          <a:lstStyle/>
          <a:p>
            <a:pPr marL="342900" indent="-342900">
              <a:buFont typeface="Arial" panose="020B0604020202020204" pitchFamily="34" charset="0"/>
              <a:buChar char="•"/>
            </a:pPr>
            <a:r>
              <a:rPr lang="en-US" altLang="en-US" sz="2000" dirty="0">
                <a:latin typeface="Poppins" panose="00000500000000000000" pitchFamily="2" charset="0"/>
                <a:cs typeface="Poppins" panose="00000500000000000000" pitchFamily="2" charset="0"/>
              </a:rPr>
              <a:t>Key to clustering. “</a:t>
            </a:r>
            <a:r>
              <a:rPr lang="en-US" altLang="en-US" sz="2000" dirty="0">
                <a:solidFill>
                  <a:srgbClr val="3333CC"/>
                </a:solidFill>
                <a:latin typeface="Poppins" panose="00000500000000000000" pitchFamily="2" charset="0"/>
                <a:cs typeface="Poppins" panose="00000500000000000000" pitchFamily="2" charset="0"/>
              </a:rPr>
              <a:t>similarity</a:t>
            </a:r>
            <a:r>
              <a:rPr lang="en-US" altLang="en-US" sz="2000" dirty="0">
                <a:latin typeface="Poppins" panose="00000500000000000000" pitchFamily="2" charset="0"/>
                <a:cs typeface="Poppins" panose="00000500000000000000" pitchFamily="2" charset="0"/>
              </a:rPr>
              <a:t>” and “</a:t>
            </a:r>
            <a:r>
              <a:rPr lang="en-US" altLang="en-US" sz="2000" dirty="0">
                <a:solidFill>
                  <a:srgbClr val="3333CC"/>
                </a:solidFill>
                <a:latin typeface="Poppins" panose="00000500000000000000" pitchFamily="2" charset="0"/>
                <a:cs typeface="Poppins" panose="00000500000000000000" pitchFamily="2" charset="0"/>
              </a:rPr>
              <a:t>dissimilarity</a:t>
            </a:r>
            <a:r>
              <a:rPr lang="en-US" altLang="en-US" sz="2000" dirty="0">
                <a:latin typeface="Poppins" panose="00000500000000000000" pitchFamily="2" charset="0"/>
                <a:cs typeface="Poppins" panose="00000500000000000000" pitchFamily="2" charset="0"/>
              </a:rPr>
              <a:t>” can also commonly used terms.</a:t>
            </a:r>
          </a:p>
          <a:p>
            <a:endParaRPr lang="en-US" altLang="en-US" sz="2000" dirty="0">
              <a:latin typeface="Poppins" panose="00000500000000000000" pitchFamily="2" charset="0"/>
              <a:cs typeface="Poppins" panose="00000500000000000000" pitchFamily="2" charset="0"/>
            </a:endParaRPr>
          </a:p>
          <a:p>
            <a:pPr marL="342900" indent="-342900">
              <a:buFont typeface="Arial" panose="020B0604020202020204" pitchFamily="34" charset="0"/>
              <a:buChar char="•"/>
            </a:pPr>
            <a:r>
              <a:rPr lang="en-US" altLang="en-US" sz="2000" dirty="0">
                <a:latin typeface="Poppins" panose="00000500000000000000" pitchFamily="2" charset="0"/>
                <a:cs typeface="Poppins" panose="00000500000000000000" pitchFamily="2" charset="0"/>
              </a:rPr>
              <a:t>There are numerous distance functions for </a:t>
            </a:r>
          </a:p>
          <a:p>
            <a:endParaRPr lang="en-US" altLang="en-US" sz="2000" dirty="0">
              <a:latin typeface="Poppins" panose="00000500000000000000" pitchFamily="2" charset="0"/>
              <a:cs typeface="Poppins" panose="00000500000000000000" pitchFamily="2" charset="0"/>
            </a:endParaRPr>
          </a:p>
          <a:p>
            <a:pPr marL="800100" lvl="1" indent="-342900">
              <a:buFont typeface="Wingdings" panose="05000000000000000000" pitchFamily="2" charset="2"/>
              <a:buChar char="§"/>
            </a:pPr>
            <a:r>
              <a:rPr lang="en-US" altLang="en-US" sz="2000" dirty="0">
                <a:latin typeface="Poppins" panose="00000500000000000000" pitchFamily="2" charset="0"/>
                <a:cs typeface="Poppins" panose="00000500000000000000" pitchFamily="2" charset="0"/>
              </a:rPr>
              <a:t>Different types of data</a:t>
            </a:r>
          </a:p>
          <a:p>
            <a:pPr marL="1257300" lvl="2" indent="-342900">
              <a:buFont typeface="Courier New" panose="02070309020205020404" pitchFamily="49" charset="0"/>
              <a:buChar char="o"/>
            </a:pPr>
            <a:r>
              <a:rPr lang="en-US" altLang="en-US" sz="2000" dirty="0">
                <a:latin typeface="Poppins" panose="00000500000000000000" pitchFamily="2" charset="0"/>
                <a:cs typeface="Poppins" panose="00000500000000000000" pitchFamily="2" charset="0"/>
              </a:rPr>
              <a:t>Numeric data</a:t>
            </a:r>
          </a:p>
          <a:p>
            <a:pPr marL="1257300" lvl="2" indent="-342900">
              <a:buFont typeface="Courier New" panose="02070309020205020404" pitchFamily="49" charset="0"/>
              <a:buChar char="o"/>
            </a:pPr>
            <a:r>
              <a:rPr lang="en-US" altLang="en-US" sz="2000" dirty="0">
                <a:latin typeface="Poppins" panose="00000500000000000000" pitchFamily="2" charset="0"/>
                <a:cs typeface="Poppins" panose="00000500000000000000" pitchFamily="2" charset="0"/>
              </a:rPr>
              <a:t>Nominal data</a:t>
            </a:r>
          </a:p>
          <a:p>
            <a:pPr marL="800100" lvl="1" indent="-342900">
              <a:buFont typeface="Wingdings" panose="05000000000000000000" pitchFamily="2" charset="2"/>
              <a:buChar char="§"/>
            </a:pPr>
            <a:r>
              <a:rPr lang="en-US" altLang="en-US" sz="2000" dirty="0">
                <a:latin typeface="Poppins" panose="00000500000000000000" pitchFamily="2" charset="0"/>
                <a:cs typeface="Poppins" panose="00000500000000000000" pitchFamily="2" charset="0"/>
              </a:rPr>
              <a:t>Different specific applications</a:t>
            </a:r>
          </a:p>
        </p:txBody>
      </p:sp>
      <p:pic>
        <p:nvPicPr>
          <p:cNvPr id="2" name="Picture 1" descr="EC - Best Private University in Telangana &amp; Andhra Pradesh ...">
            <a:extLst>
              <a:ext uri="{FF2B5EF4-FFF2-40B4-BE49-F238E27FC236}">
                <a16:creationId xmlns:a16="http://schemas.microsoft.com/office/drawing/2014/main" id="{D3A807CE-017E-6E89-E78C-1B9A63E7F4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5466" y="27854"/>
            <a:ext cx="1419304" cy="671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4606931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665276" y="163313"/>
            <a:ext cx="7887799" cy="8673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800" dirty="0">
                <a:latin typeface="Poppins" panose="00000500000000000000" pitchFamily="2" charset="0"/>
                <a:cs typeface="Poppins" panose="00000500000000000000" pitchFamily="2" charset="0"/>
              </a:rPr>
              <a:t>Distance functions for numeric attributes</a:t>
            </a:r>
            <a:endParaRPr lang="en-US" sz="28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5" name="Content Placeholder 4">
            <a:extLst>
              <a:ext uri="{FF2B5EF4-FFF2-40B4-BE49-F238E27FC236}">
                <a16:creationId xmlns:a16="http://schemas.microsoft.com/office/drawing/2014/main" id="{E6927F63-EFE5-38D9-0680-8A50B9FEA15E}"/>
              </a:ext>
            </a:extLst>
          </p:cNvPr>
          <p:cNvSpPr>
            <a:spLocks noGrp="1"/>
          </p:cNvSpPr>
          <p:nvPr>
            <p:ph idx="1"/>
          </p:nvPr>
        </p:nvSpPr>
        <p:spPr>
          <a:xfrm>
            <a:off x="1460205" y="1835888"/>
            <a:ext cx="9569302" cy="4340957"/>
          </a:xfrm>
        </p:spPr>
        <p:txBody>
          <a:bodyPr>
            <a:normAutofit/>
          </a:bodyPr>
          <a:lstStyle/>
          <a:p>
            <a:r>
              <a:rPr lang="en-US" altLang="en-US" sz="2000" dirty="0">
                <a:latin typeface="Poppins" panose="00000500000000000000" pitchFamily="2" charset="0"/>
                <a:cs typeface="Poppins" panose="00000500000000000000" pitchFamily="2" charset="0"/>
              </a:rPr>
              <a:t>Most commonly used functions are </a:t>
            </a:r>
          </a:p>
          <a:p>
            <a:pPr lvl="1"/>
            <a:r>
              <a:rPr lang="en-US" altLang="ja-JP" sz="2000" dirty="0">
                <a:solidFill>
                  <a:srgbClr val="3333CC"/>
                </a:solidFill>
                <a:latin typeface="Poppins" panose="00000500000000000000" pitchFamily="2" charset="0"/>
                <a:ea typeface="ＭＳ Ｐゴシック" panose="020B0600070205080204" pitchFamily="34" charset="-128"/>
                <a:cs typeface="Poppins" panose="00000500000000000000" pitchFamily="2" charset="0"/>
              </a:rPr>
              <a:t>Euclidean distance</a:t>
            </a: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 and </a:t>
            </a:r>
          </a:p>
          <a:p>
            <a:pPr lvl="1"/>
            <a:r>
              <a:rPr lang="en-US" altLang="ja-JP" sz="2000" dirty="0">
                <a:solidFill>
                  <a:srgbClr val="3333CC"/>
                </a:solidFill>
                <a:latin typeface="Poppins" panose="00000500000000000000" pitchFamily="2" charset="0"/>
                <a:ea typeface="ＭＳ Ｐゴシック" panose="020B0600070205080204" pitchFamily="34" charset="-128"/>
                <a:cs typeface="Poppins" panose="00000500000000000000" pitchFamily="2" charset="0"/>
              </a:rPr>
              <a:t>Manhattan (city block) distance</a:t>
            </a:r>
          </a:p>
          <a:p>
            <a:pPr marL="457200" lvl="1" indent="0">
              <a:buNone/>
            </a:pPr>
            <a:endParaRPr lang="en-US" altLang="ja-JP" sz="2000" dirty="0">
              <a:solidFill>
                <a:srgbClr val="3333CC"/>
              </a:solidFill>
              <a:latin typeface="Poppins" panose="00000500000000000000" pitchFamily="2" charset="0"/>
              <a:ea typeface="ＭＳ Ｐゴシック" panose="020B0600070205080204" pitchFamily="34" charset="-128"/>
              <a:cs typeface="Poppins" panose="00000500000000000000" pitchFamily="2" charset="0"/>
            </a:endParaRPr>
          </a:p>
          <a:p>
            <a:r>
              <a:rPr lang="en-US" altLang="ja-JP" sz="2000" dirty="0">
                <a:latin typeface="Poppins" panose="00000500000000000000" pitchFamily="2" charset="0"/>
                <a:ea typeface="ＭＳ Ｐゴシック" panose="020B0600070205080204" pitchFamily="34" charset="-128"/>
                <a:cs typeface="Poppins" panose="00000500000000000000" pitchFamily="2" charset="0"/>
              </a:rPr>
              <a:t>We denote distance with: </a:t>
            </a:r>
            <a:r>
              <a:rPr lang="en-US" altLang="ja-JP" sz="2000" i="1" dirty="0" err="1">
                <a:latin typeface="Poppins" panose="00000500000000000000" pitchFamily="2" charset="0"/>
                <a:ea typeface="ＭＳ Ｐゴシック" panose="020B0600070205080204" pitchFamily="34" charset="-128"/>
                <a:cs typeface="Poppins" panose="00000500000000000000" pitchFamily="2" charset="0"/>
              </a:rPr>
              <a:t>dist</a:t>
            </a: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a:t>
            </a:r>
            <a:r>
              <a:rPr lang="en-US" altLang="ja-JP" sz="2000" b="1" dirty="0">
                <a:latin typeface="Poppins" panose="00000500000000000000" pitchFamily="2" charset="0"/>
                <a:ea typeface="ＭＳ Ｐゴシック" panose="020B0600070205080204" pitchFamily="34" charset="-128"/>
                <a:cs typeface="Poppins" panose="00000500000000000000" pitchFamily="2" charset="0"/>
              </a:rPr>
              <a:t>x</a:t>
            </a:r>
            <a:r>
              <a:rPr lang="en-US" altLang="ja-JP" sz="2000" i="1" baseline="-25000" dirty="0">
                <a:latin typeface="Poppins" panose="00000500000000000000" pitchFamily="2" charset="0"/>
                <a:ea typeface="ＭＳ Ｐゴシック" panose="020B0600070205080204" pitchFamily="34" charset="-128"/>
                <a:cs typeface="Poppins" panose="00000500000000000000" pitchFamily="2" charset="0"/>
              </a:rPr>
              <a:t>i</a:t>
            </a: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 </a:t>
            </a:r>
            <a:r>
              <a:rPr lang="en-US" altLang="ja-JP" sz="2000" b="1" dirty="0" err="1">
                <a:latin typeface="Poppins" panose="00000500000000000000" pitchFamily="2" charset="0"/>
                <a:ea typeface="ＭＳ Ｐゴシック" panose="020B0600070205080204" pitchFamily="34" charset="-128"/>
                <a:cs typeface="Poppins" panose="00000500000000000000" pitchFamily="2" charset="0"/>
              </a:rPr>
              <a:t>x</a:t>
            </a:r>
            <a:r>
              <a:rPr lang="en-US" altLang="ja-JP" sz="2000" i="1" baseline="-25000" dirty="0" err="1">
                <a:latin typeface="Poppins" panose="00000500000000000000" pitchFamily="2" charset="0"/>
                <a:ea typeface="ＭＳ Ｐゴシック" panose="020B0600070205080204" pitchFamily="34" charset="-128"/>
                <a:cs typeface="Poppins" panose="00000500000000000000" pitchFamily="2" charset="0"/>
              </a:rPr>
              <a:t>j</a:t>
            </a: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 where </a:t>
            </a:r>
            <a:r>
              <a:rPr lang="en-US" altLang="ja-JP" sz="2000" b="1" dirty="0">
                <a:latin typeface="Poppins" panose="00000500000000000000" pitchFamily="2" charset="0"/>
                <a:ea typeface="ＭＳ Ｐゴシック" panose="020B0600070205080204" pitchFamily="34" charset="-128"/>
                <a:cs typeface="Poppins" panose="00000500000000000000" pitchFamily="2" charset="0"/>
              </a:rPr>
              <a:t>x</a:t>
            </a:r>
            <a:r>
              <a:rPr lang="en-US" altLang="ja-JP" sz="2000" i="1" baseline="-25000" dirty="0">
                <a:latin typeface="Poppins" panose="00000500000000000000" pitchFamily="2" charset="0"/>
                <a:ea typeface="ＭＳ Ｐゴシック" panose="020B0600070205080204" pitchFamily="34" charset="-128"/>
                <a:cs typeface="Poppins" panose="00000500000000000000" pitchFamily="2" charset="0"/>
              </a:rPr>
              <a:t>i</a:t>
            </a: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 and </a:t>
            </a:r>
            <a:r>
              <a:rPr lang="en-US" altLang="ja-JP" sz="2000" b="1" dirty="0" err="1">
                <a:latin typeface="Poppins" panose="00000500000000000000" pitchFamily="2" charset="0"/>
                <a:ea typeface="ＭＳ Ｐゴシック" panose="020B0600070205080204" pitchFamily="34" charset="-128"/>
                <a:cs typeface="Poppins" panose="00000500000000000000" pitchFamily="2" charset="0"/>
              </a:rPr>
              <a:t>x</a:t>
            </a:r>
            <a:r>
              <a:rPr lang="en-US" altLang="ja-JP" sz="2000" i="1" baseline="-25000" dirty="0" err="1">
                <a:latin typeface="Poppins" panose="00000500000000000000" pitchFamily="2" charset="0"/>
                <a:ea typeface="ＭＳ Ｐゴシック" panose="020B0600070205080204" pitchFamily="34" charset="-128"/>
                <a:cs typeface="Poppins" panose="00000500000000000000" pitchFamily="2" charset="0"/>
              </a:rPr>
              <a:t>j</a:t>
            </a: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 are data points (vectors)</a:t>
            </a:r>
          </a:p>
          <a:p>
            <a:r>
              <a:rPr lang="en-US" altLang="en-US" sz="2000" dirty="0">
                <a:latin typeface="Poppins" panose="00000500000000000000" pitchFamily="2" charset="0"/>
                <a:cs typeface="Poppins" panose="00000500000000000000" pitchFamily="2" charset="0"/>
              </a:rPr>
              <a:t>They are special cases of </a:t>
            </a:r>
            <a:r>
              <a:rPr lang="en-US" altLang="ja-JP" sz="2000" dirty="0" err="1">
                <a:solidFill>
                  <a:srgbClr val="3333CC"/>
                </a:solidFill>
                <a:latin typeface="Poppins" panose="00000500000000000000" pitchFamily="2" charset="0"/>
                <a:ea typeface="ＭＳ Ｐゴシック" panose="020B0600070205080204" pitchFamily="34" charset="-128"/>
                <a:cs typeface="Poppins" panose="00000500000000000000" pitchFamily="2" charset="0"/>
              </a:rPr>
              <a:t>Minkowski</a:t>
            </a:r>
            <a:r>
              <a:rPr lang="en-US" altLang="ja-JP" sz="2000" dirty="0">
                <a:solidFill>
                  <a:srgbClr val="3333CC"/>
                </a:solidFill>
                <a:latin typeface="Poppins" panose="00000500000000000000" pitchFamily="2" charset="0"/>
                <a:ea typeface="ＭＳ Ｐゴシック" panose="020B0600070205080204" pitchFamily="34" charset="-128"/>
                <a:cs typeface="Poppins" panose="00000500000000000000" pitchFamily="2" charset="0"/>
              </a:rPr>
              <a:t> distance</a:t>
            </a: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 h is positive integer.</a:t>
            </a:r>
            <a:endParaRPr lang="en-US" altLang="en-US" sz="2000" dirty="0">
              <a:latin typeface="Poppins" panose="00000500000000000000" pitchFamily="2" charset="0"/>
              <a:cs typeface="Poppins" panose="00000500000000000000" pitchFamily="2" charset="0"/>
            </a:endParaRPr>
          </a:p>
          <a:p>
            <a:pPr marL="0" indent="0">
              <a:buNone/>
            </a:pPr>
            <a:endParaRPr lang="en-IN" dirty="0"/>
          </a:p>
        </p:txBody>
      </p:sp>
      <p:graphicFrame>
        <p:nvGraphicFramePr>
          <p:cNvPr id="6" name="Object 4">
            <a:extLst>
              <a:ext uri="{FF2B5EF4-FFF2-40B4-BE49-F238E27FC236}">
                <a16:creationId xmlns:a16="http://schemas.microsoft.com/office/drawing/2014/main" id="{964E48CD-7324-BC81-E984-54D16244C81C}"/>
              </a:ext>
            </a:extLst>
          </p:cNvPr>
          <p:cNvGraphicFramePr>
            <a:graphicFrameLocks noChangeAspect="1"/>
          </p:cNvGraphicFramePr>
          <p:nvPr/>
        </p:nvGraphicFramePr>
        <p:xfrm>
          <a:off x="1815806" y="4890194"/>
          <a:ext cx="8245475" cy="1081087"/>
        </p:xfrm>
        <a:graphic>
          <a:graphicData uri="http://schemas.openxmlformats.org/presentationml/2006/ole">
            <mc:AlternateContent xmlns:mc="http://schemas.openxmlformats.org/markup-compatibility/2006">
              <mc:Choice xmlns:v="urn:schemas-microsoft-com:vml" Requires="v">
                <p:oleObj name="Equation" r:id="rId3" imgW="3251200" imgH="355600" progId="Equation.3">
                  <p:embed/>
                </p:oleObj>
              </mc:Choice>
              <mc:Fallback>
                <p:oleObj name="Equation" r:id="rId3" imgW="3251200" imgH="355600" progId="Equation.3">
                  <p:embed/>
                  <p:pic>
                    <p:nvPicPr>
                      <p:cNvPr id="6" name="Object 4">
                        <a:extLst>
                          <a:ext uri="{FF2B5EF4-FFF2-40B4-BE49-F238E27FC236}">
                            <a16:creationId xmlns:a16="http://schemas.microsoft.com/office/drawing/2014/main" id="{964E48CD-7324-BC81-E984-54D16244C81C}"/>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15806" y="4890194"/>
                        <a:ext cx="8245475" cy="1081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 name="Picture 1" descr="EC - Best Private University in Telangana &amp; Andhra Pradesh ...">
            <a:extLst>
              <a:ext uri="{FF2B5EF4-FFF2-40B4-BE49-F238E27FC236}">
                <a16:creationId xmlns:a16="http://schemas.microsoft.com/office/drawing/2014/main" id="{F8D29762-7986-0B44-AD2B-23BF4603DB2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0695466" y="27854"/>
            <a:ext cx="1419304" cy="671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634846423"/>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665276" y="163313"/>
            <a:ext cx="8247563" cy="8673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ja-JP" sz="2800" dirty="0">
                <a:latin typeface="Poppins" panose="00000500000000000000" pitchFamily="2" charset="0"/>
                <a:ea typeface="ＭＳ Ｐゴシック" panose="020B0600070205080204" pitchFamily="34" charset="-128"/>
                <a:cs typeface="Poppins" panose="00000500000000000000" pitchFamily="2" charset="0"/>
              </a:rPr>
              <a:t>Euclidean distance and Manhattan distance </a:t>
            </a:r>
            <a:endParaRPr lang="en-US" sz="28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4" name="Content Placeholder 3">
            <a:extLst>
              <a:ext uri="{FF2B5EF4-FFF2-40B4-BE49-F238E27FC236}">
                <a16:creationId xmlns:a16="http://schemas.microsoft.com/office/drawing/2014/main" id="{ED1FF675-68D6-D5F6-DA92-C637C410589D}"/>
              </a:ext>
            </a:extLst>
          </p:cNvPr>
          <p:cNvSpPr>
            <a:spLocks noGrp="1"/>
          </p:cNvSpPr>
          <p:nvPr>
            <p:ph idx="1"/>
          </p:nvPr>
        </p:nvSpPr>
        <p:spPr>
          <a:xfrm>
            <a:off x="1438940" y="1885507"/>
            <a:ext cx="9647274" cy="4297180"/>
          </a:xfrm>
        </p:spPr>
        <p:txBody>
          <a:bodyPr>
            <a:normAutofit/>
          </a:bodyPr>
          <a:lstStyle/>
          <a:p>
            <a:r>
              <a:rPr lang="en-US" altLang="ja-JP" sz="2000" dirty="0">
                <a:latin typeface="Poppins" panose="00000500000000000000" pitchFamily="2" charset="0"/>
                <a:ea typeface="ＭＳ Ｐゴシック" panose="020B0600070205080204" pitchFamily="34" charset="-128"/>
                <a:cs typeface="Poppins" panose="00000500000000000000" pitchFamily="2" charset="0"/>
              </a:rPr>
              <a:t>If </a:t>
            </a:r>
            <a:r>
              <a:rPr lang="en-US" altLang="ja-JP" sz="2000" i="1" dirty="0">
                <a:latin typeface="Poppins" panose="00000500000000000000" pitchFamily="2" charset="0"/>
                <a:ea typeface="ＭＳ Ｐゴシック" panose="020B0600070205080204" pitchFamily="34" charset="-128"/>
                <a:cs typeface="Poppins" panose="00000500000000000000" pitchFamily="2" charset="0"/>
              </a:rPr>
              <a:t>h</a:t>
            </a: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 = 2, it is the </a:t>
            </a:r>
            <a:r>
              <a:rPr lang="en-US" altLang="ja-JP" dirty="0">
                <a:solidFill>
                  <a:srgbClr val="FF0000"/>
                </a:solidFill>
                <a:latin typeface="Poppins" panose="00000500000000000000" pitchFamily="2" charset="0"/>
                <a:ea typeface="ＭＳ Ｐゴシック" panose="020B0600070205080204" pitchFamily="34" charset="-128"/>
                <a:cs typeface="Poppins" panose="00000500000000000000" pitchFamily="2" charset="0"/>
              </a:rPr>
              <a:t>Euclidean</a:t>
            </a:r>
            <a:r>
              <a:rPr lang="en-US" altLang="ja-JP" sz="2000" dirty="0">
                <a:solidFill>
                  <a:srgbClr val="FF0000"/>
                </a:solidFill>
                <a:latin typeface="Poppins" panose="00000500000000000000" pitchFamily="2" charset="0"/>
                <a:ea typeface="ＭＳ Ｐゴシック" panose="020B0600070205080204" pitchFamily="34" charset="-128"/>
                <a:cs typeface="Poppins" panose="00000500000000000000" pitchFamily="2" charset="0"/>
              </a:rPr>
              <a:t> distance</a:t>
            </a:r>
            <a:endParaRPr lang="en-US" altLang="ja-JP" dirty="0">
              <a:solidFill>
                <a:srgbClr val="FF0000"/>
              </a:solidFill>
              <a:ea typeface="ＭＳ Ｐゴシック" panose="020B0600070205080204" pitchFamily="34" charset="-128"/>
            </a:endParaRPr>
          </a:p>
          <a:p>
            <a:pPr marL="0" indent="0">
              <a:buNone/>
            </a:pPr>
            <a:endParaRPr lang="en-US" altLang="ja-JP" sz="2000" dirty="0">
              <a:latin typeface="Poppins" panose="00000500000000000000" pitchFamily="2" charset="0"/>
              <a:ea typeface="ＭＳ Ｐゴシック" panose="020B0600070205080204" pitchFamily="34" charset="-128"/>
              <a:cs typeface="Poppins" panose="00000500000000000000" pitchFamily="2" charset="0"/>
            </a:endParaRPr>
          </a:p>
          <a:p>
            <a:endParaRPr lang="en-US" altLang="ja-JP" sz="2000" dirty="0">
              <a:latin typeface="Poppins" panose="00000500000000000000" pitchFamily="2" charset="0"/>
              <a:ea typeface="ＭＳ Ｐゴシック" panose="020B0600070205080204" pitchFamily="34" charset="-128"/>
              <a:cs typeface="Poppins" panose="00000500000000000000" pitchFamily="2" charset="0"/>
            </a:endParaRPr>
          </a:p>
          <a:p>
            <a:r>
              <a:rPr lang="en-US" altLang="ja-JP" sz="2000" dirty="0">
                <a:latin typeface="Poppins" panose="00000500000000000000" pitchFamily="2" charset="0"/>
                <a:ea typeface="ＭＳ Ｐゴシック" panose="020B0600070205080204" pitchFamily="34" charset="-128"/>
                <a:cs typeface="Poppins" panose="00000500000000000000" pitchFamily="2" charset="0"/>
              </a:rPr>
              <a:t>If </a:t>
            </a:r>
            <a:r>
              <a:rPr lang="en-US" altLang="ja-JP" sz="2000" i="1" dirty="0">
                <a:latin typeface="Poppins" panose="00000500000000000000" pitchFamily="2" charset="0"/>
                <a:ea typeface="ＭＳ Ｐゴシック" panose="020B0600070205080204" pitchFamily="34" charset="-128"/>
                <a:cs typeface="Poppins" panose="00000500000000000000" pitchFamily="2" charset="0"/>
              </a:rPr>
              <a:t>h</a:t>
            </a: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 = 1, it is the </a:t>
            </a:r>
            <a:r>
              <a:rPr lang="en-US" altLang="ja-JP" sz="2000" dirty="0">
                <a:solidFill>
                  <a:srgbClr val="FF0000"/>
                </a:solidFill>
                <a:latin typeface="Poppins" panose="00000500000000000000" pitchFamily="2" charset="0"/>
                <a:ea typeface="ＭＳ Ｐゴシック" panose="020B0600070205080204" pitchFamily="34" charset="-128"/>
                <a:cs typeface="Poppins" panose="00000500000000000000" pitchFamily="2" charset="0"/>
              </a:rPr>
              <a:t>Manhattan distance</a:t>
            </a: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 </a:t>
            </a:r>
          </a:p>
          <a:p>
            <a:pPr marL="0" indent="0">
              <a:buNone/>
            </a:pPr>
            <a:endParaRPr lang="en-US" altLang="ja-JP" sz="2000" dirty="0">
              <a:latin typeface="Poppins" panose="00000500000000000000" pitchFamily="2" charset="0"/>
              <a:ea typeface="ＭＳ Ｐゴシック" panose="020B0600070205080204" pitchFamily="34" charset="-128"/>
              <a:cs typeface="Poppins" panose="00000500000000000000" pitchFamily="2" charset="0"/>
            </a:endParaRPr>
          </a:p>
          <a:p>
            <a:endParaRPr lang="en-US" altLang="ja-JP" sz="2000" dirty="0">
              <a:solidFill>
                <a:srgbClr val="FF0000"/>
              </a:solidFill>
              <a:latin typeface="Poppins" panose="00000500000000000000" pitchFamily="2" charset="0"/>
              <a:ea typeface="ＭＳ Ｐゴシック" panose="020B0600070205080204" pitchFamily="34" charset="-128"/>
              <a:cs typeface="Poppins" panose="00000500000000000000" pitchFamily="2" charset="0"/>
            </a:endParaRPr>
          </a:p>
          <a:p>
            <a:r>
              <a:rPr lang="en-US" altLang="ja-JP" sz="2000" dirty="0">
                <a:solidFill>
                  <a:srgbClr val="FF0000"/>
                </a:solidFill>
                <a:latin typeface="Poppins" panose="00000500000000000000" pitchFamily="2" charset="0"/>
                <a:ea typeface="ＭＳ Ｐゴシック" panose="020B0600070205080204" pitchFamily="34" charset="-128"/>
                <a:cs typeface="Poppins" panose="00000500000000000000" pitchFamily="2" charset="0"/>
              </a:rPr>
              <a:t>Weighted Euclidean distance</a:t>
            </a: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 </a:t>
            </a:r>
          </a:p>
          <a:p>
            <a:endParaRPr lang="en-US" altLang="ja-JP" dirty="0">
              <a:ea typeface="ＭＳ Ｐゴシック" panose="020B0600070205080204" pitchFamily="34" charset="-128"/>
            </a:endParaRPr>
          </a:p>
        </p:txBody>
      </p:sp>
      <p:graphicFrame>
        <p:nvGraphicFramePr>
          <p:cNvPr id="5" name="Object 4">
            <a:extLst>
              <a:ext uri="{FF2B5EF4-FFF2-40B4-BE49-F238E27FC236}">
                <a16:creationId xmlns:a16="http://schemas.microsoft.com/office/drawing/2014/main" id="{831153E7-D461-F693-66B7-CCA2CBFD87FE}"/>
              </a:ext>
            </a:extLst>
          </p:cNvPr>
          <p:cNvGraphicFramePr>
            <a:graphicFrameLocks noChangeAspect="1"/>
          </p:cNvGraphicFramePr>
          <p:nvPr/>
        </p:nvGraphicFramePr>
        <p:xfrm>
          <a:off x="2665276" y="2407674"/>
          <a:ext cx="7381875" cy="674687"/>
        </p:xfrm>
        <a:graphic>
          <a:graphicData uri="http://schemas.openxmlformats.org/presentationml/2006/ole">
            <mc:AlternateContent xmlns:mc="http://schemas.openxmlformats.org/markup-compatibility/2006">
              <mc:Choice xmlns:v="urn:schemas-microsoft-com:vml" Requires="v">
                <p:oleObj name="Equation" r:id="rId3" imgW="3225800" imgH="292100" progId="Equation.3">
                  <p:embed/>
                </p:oleObj>
              </mc:Choice>
              <mc:Fallback>
                <p:oleObj name="Equation" r:id="rId3" imgW="3225800" imgH="292100" progId="Equation.3">
                  <p:embed/>
                  <p:pic>
                    <p:nvPicPr>
                      <p:cNvPr id="5" name="Object 4">
                        <a:extLst>
                          <a:ext uri="{FF2B5EF4-FFF2-40B4-BE49-F238E27FC236}">
                            <a16:creationId xmlns:a16="http://schemas.microsoft.com/office/drawing/2014/main" id="{831153E7-D461-F693-66B7-CCA2CBFD87F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65276" y="2407674"/>
                        <a:ext cx="7381875" cy="674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6">
            <a:extLst>
              <a:ext uri="{FF2B5EF4-FFF2-40B4-BE49-F238E27FC236}">
                <a16:creationId xmlns:a16="http://schemas.microsoft.com/office/drawing/2014/main" id="{5B9F6DFA-BAA7-A177-AEDA-0D5A00E1F6D3}"/>
              </a:ext>
            </a:extLst>
          </p:cNvPr>
          <p:cNvGraphicFramePr>
            <a:graphicFrameLocks noChangeAspect="1"/>
          </p:cNvGraphicFramePr>
          <p:nvPr/>
        </p:nvGraphicFramePr>
        <p:xfrm>
          <a:off x="2423318" y="3854215"/>
          <a:ext cx="7524750" cy="600075"/>
        </p:xfrm>
        <a:graphic>
          <a:graphicData uri="http://schemas.openxmlformats.org/presentationml/2006/ole">
            <mc:AlternateContent xmlns:mc="http://schemas.openxmlformats.org/markup-compatibility/2006">
              <mc:Choice xmlns:v="urn:schemas-microsoft-com:vml" Requires="v">
                <p:oleObj name="Equation" r:id="rId5" imgW="2870200" imgH="228600" progId="Equation.3">
                  <p:embed/>
                </p:oleObj>
              </mc:Choice>
              <mc:Fallback>
                <p:oleObj name="Equation" r:id="rId5" imgW="2870200" imgH="228600" progId="Equation.3">
                  <p:embed/>
                  <p:pic>
                    <p:nvPicPr>
                      <p:cNvPr id="7" name="Object 6">
                        <a:extLst>
                          <a:ext uri="{FF2B5EF4-FFF2-40B4-BE49-F238E27FC236}">
                            <a16:creationId xmlns:a16="http://schemas.microsoft.com/office/drawing/2014/main" id="{5B9F6DFA-BAA7-A177-AEDA-0D5A00E1F6D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23318" y="3854215"/>
                        <a:ext cx="7524750" cy="600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8">
            <a:extLst>
              <a:ext uri="{FF2B5EF4-FFF2-40B4-BE49-F238E27FC236}">
                <a16:creationId xmlns:a16="http://schemas.microsoft.com/office/drawing/2014/main" id="{8ED4B01B-6023-D9D2-5EC3-B97A91197DA8}"/>
              </a:ext>
            </a:extLst>
          </p:cNvPr>
          <p:cNvGraphicFramePr>
            <a:graphicFrameLocks noChangeAspect="1"/>
          </p:cNvGraphicFramePr>
          <p:nvPr/>
        </p:nvGraphicFramePr>
        <p:xfrm>
          <a:off x="2243931" y="5323311"/>
          <a:ext cx="7704137" cy="622300"/>
        </p:xfrm>
        <a:graphic>
          <a:graphicData uri="http://schemas.openxmlformats.org/presentationml/2006/ole">
            <mc:AlternateContent xmlns:mc="http://schemas.openxmlformats.org/markup-compatibility/2006">
              <mc:Choice xmlns:v="urn:schemas-microsoft-com:vml" Requires="v">
                <p:oleObj name="Equation" r:id="rId7" imgW="3657600" imgH="292100" progId="Equation.3">
                  <p:embed/>
                </p:oleObj>
              </mc:Choice>
              <mc:Fallback>
                <p:oleObj name="Equation" r:id="rId7" imgW="3657600" imgH="292100" progId="Equation.3">
                  <p:embed/>
                  <p:pic>
                    <p:nvPicPr>
                      <p:cNvPr id="8" name="Object 8">
                        <a:extLst>
                          <a:ext uri="{FF2B5EF4-FFF2-40B4-BE49-F238E27FC236}">
                            <a16:creationId xmlns:a16="http://schemas.microsoft.com/office/drawing/2014/main" id="{8ED4B01B-6023-D9D2-5EC3-B97A91197DA8}"/>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43931" y="5323311"/>
                        <a:ext cx="7704137" cy="622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 name="Picture 1" descr="EC - Best Private University in Telangana &amp; Andhra Pradesh ...">
            <a:extLst>
              <a:ext uri="{FF2B5EF4-FFF2-40B4-BE49-F238E27FC236}">
                <a16:creationId xmlns:a16="http://schemas.microsoft.com/office/drawing/2014/main" id="{3DE5AA9A-655B-28CA-247F-6F3B7438E97A}"/>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10695466" y="27854"/>
            <a:ext cx="1419304" cy="671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9721559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Rounded Rectangle 17">
            <a:extLst>
              <a:ext uri="{FF2B5EF4-FFF2-40B4-BE49-F238E27FC236}">
                <a16:creationId xmlns:a16="http://schemas.microsoft.com/office/drawing/2014/main" id="{9EB8A4A0-26E8-41C7-BE65-3B55B361B40D}"/>
              </a:ext>
            </a:extLst>
          </p:cNvPr>
          <p:cNvSpPr/>
          <p:nvPr/>
        </p:nvSpPr>
        <p:spPr>
          <a:xfrm>
            <a:off x="2665276" y="163313"/>
            <a:ext cx="8090167" cy="867376"/>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altLang="en-US" sz="2800" dirty="0">
                <a:latin typeface="Poppins" panose="00000500000000000000" pitchFamily="2" charset="0"/>
                <a:cs typeface="Poppins" panose="00000500000000000000" pitchFamily="2" charset="0"/>
              </a:rPr>
              <a:t>Squared distance and </a:t>
            </a:r>
            <a:r>
              <a:rPr lang="en-US" altLang="ja-JP" sz="2800" dirty="0" err="1">
                <a:latin typeface="Poppins" panose="00000500000000000000" pitchFamily="2" charset="0"/>
                <a:ea typeface="ＭＳ Ｐゴシック" panose="020B0600070205080204" pitchFamily="34" charset="-128"/>
                <a:cs typeface="Poppins" panose="00000500000000000000" pitchFamily="2" charset="0"/>
              </a:rPr>
              <a:t>Chebychev</a:t>
            </a:r>
            <a:r>
              <a:rPr lang="en-US" altLang="ja-JP" sz="2800" dirty="0">
                <a:latin typeface="Poppins" panose="00000500000000000000" pitchFamily="2" charset="0"/>
                <a:ea typeface="ＭＳ Ｐゴシック" panose="020B0600070205080204" pitchFamily="34" charset="-128"/>
                <a:cs typeface="Poppins" panose="00000500000000000000" pitchFamily="2" charset="0"/>
              </a:rPr>
              <a:t> distance </a:t>
            </a:r>
            <a:endParaRPr lang="en-US" sz="2800" dirty="0">
              <a:ln w="0"/>
              <a:solidFill>
                <a:schemeClr val="bg1"/>
              </a:solidFill>
              <a:effectLst>
                <a:outerShdw blurRad="38100" dist="19050" dir="2700000" algn="tl" rotWithShape="0">
                  <a:schemeClr val="dk1">
                    <a:alpha val="40000"/>
                  </a:schemeClr>
                </a:outerShdw>
              </a:effectLst>
              <a:latin typeface="Poppins" panose="00000500000000000000" pitchFamily="2" charset="0"/>
              <a:cs typeface="Poppins" panose="00000500000000000000" pitchFamily="2" charset="0"/>
            </a:endParaRPr>
          </a:p>
        </p:txBody>
      </p:sp>
      <p:sp>
        <p:nvSpPr>
          <p:cNvPr id="5" name="Content Placeholder 4">
            <a:extLst>
              <a:ext uri="{FF2B5EF4-FFF2-40B4-BE49-F238E27FC236}">
                <a16:creationId xmlns:a16="http://schemas.microsoft.com/office/drawing/2014/main" id="{10FA4034-0559-32BB-3474-4B248FD0DEEF}"/>
              </a:ext>
            </a:extLst>
          </p:cNvPr>
          <p:cNvSpPr>
            <a:spLocks noGrp="1"/>
          </p:cNvSpPr>
          <p:nvPr>
            <p:ph idx="1"/>
          </p:nvPr>
        </p:nvSpPr>
        <p:spPr>
          <a:xfrm>
            <a:off x="1460205" y="1885507"/>
            <a:ext cx="9467626" cy="4019107"/>
          </a:xfrm>
        </p:spPr>
        <p:txBody>
          <a:bodyPr/>
          <a:lstStyle/>
          <a:p>
            <a:r>
              <a:rPr lang="en-US" altLang="ja-JP" sz="2000" dirty="0">
                <a:solidFill>
                  <a:srgbClr val="FF0000"/>
                </a:solidFill>
                <a:latin typeface="Poppins" panose="00000500000000000000" pitchFamily="2" charset="0"/>
                <a:ea typeface="ＭＳ Ｐゴシック" panose="020B0600070205080204" pitchFamily="34" charset="-128"/>
                <a:cs typeface="Poppins" panose="00000500000000000000" pitchFamily="2" charset="0"/>
              </a:rPr>
              <a:t>Squared Euclidean distance</a:t>
            </a:r>
            <a:r>
              <a:rPr lang="en-US" altLang="ja-JP" sz="2000" b="1" dirty="0">
                <a:latin typeface="Poppins" panose="00000500000000000000" pitchFamily="2" charset="0"/>
                <a:ea typeface="ＭＳ Ｐゴシック" panose="020B0600070205080204" pitchFamily="34" charset="-128"/>
                <a:cs typeface="Poppins" panose="00000500000000000000" pitchFamily="2" charset="0"/>
              </a:rPr>
              <a:t>:</a:t>
            </a: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 to place progressively greater weight on data points that are further apart. </a:t>
            </a:r>
          </a:p>
          <a:p>
            <a:endParaRPr lang="en-US" altLang="ja-JP" dirty="0">
              <a:ea typeface="ＭＳ Ｐゴシック" panose="020B0600070205080204" pitchFamily="34" charset="-128"/>
            </a:endParaRPr>
          </a:p>
          <a:p>
            <a:pPr marL="0" indent="0">
              <a:buNone/>
            </a:pPr>
            <a:endParaRPr lang="en-US" altLang="ja-JP" sz="2000" dirty="0">
              <a:solidFill>
                <a:srgbClr val="FF0000"/>
              </a:solidFill>
              <a:latin typeface="Poppins" panose="00000500000000000000" pitchFamily="2" charset="0"/>
              <a:ea typeface="ＭＳ Ｐゴシック" panose="020B0600070205080204" pitchFamily="34" charset="-128"/>
              <a:cs typeface="Poppins" panose="00000500000000000000" pitchFamily="2" charset="0"/>
            </a:endParaRPr>
          </a:p>
          <a:p>
            <a:r>
              <a:rPr lang="en-US" altLang="ja-JP" sz="2000" dirty="0" err="1">
                <a:solidFill>
                  <a:srgbClr val="FF0000"/>
                </a:solidFill>
                <a:latin typeface="Poppins" panose="00000500000000000000" pitchFamily="2" charset="0"/>
                <a:ea typeface="ＭＳ Ｐゴシック" panose="020B0600070205080204" pitchFamily="34" charset="-128"/>
                <a:cs typeface="Poppins" panose="00000500000000000000" pitchFamily="2" charset="0"/>
              </a:rPr>
              <a:t>Chebychev</a:t>
            </a:r>
            <a:r>
              <a:rPr lang="en-US" altLang="ja-JP" sz="2000" dirty="0">
                <a:solidFill>
                  <a:srgbClr val="FF0000"/>
                </a:solidFill>
                <a:latin typeface="Poppins" panose="00000500000000000000" pitchFamily="2" charset="0"/>
                <a:ea typeface="ＭＳ Ｐゴシック" panose="020B0600070205080204" pitchFamily="34" charset="-128"/>
                <a:cs typeface="Poppins" panose="00000500000000000000" pitchFamily="2" charset="0"/>
              </a:rPr>
              <a:t> distance</a:t>
            </a:r>
            <a:r>
              <a:rPr lang="en-US" altLang="ja-JP" sz="2000" b="1" dirty="0">
                <a:latin typeface="Poppins" panose="00000500000000000000" pitchFamily="2" charset="0"/>
                <a:ea typeface="ＭＳ Ｐゴシック" panose="020B0600070205080204" pitchFamily="34" charset="-128"/>
                <a:cs typeface="Poppins" panose="00000500000000000000" pitchFamily="2" charset="0"/>
              </a:rPr>
              <a:t>: </a:t>
            </a:r>
            <a:r>
              <a:rPr lang="en-US" altLang="ja-JP" sz="2000" dirty="0">
                <a:latin typeface="Poppins" panose="00000500000000000000" pitchFamily="2" charset="0"/>
                <a:ea typeface="ＭＳ Ｐゴシック" panose="020B0600070205080204" pitchFamily="34" charset="-128"/>
                <a:cs typeface="Poppins" panose="00000500000000000000" pitchFamily="2" charset="0"/>
              </a:rPr>
              <a:t>one wants to define two data points as "different" if they are different on any one of the attributes. </a:t>
            </a:r>
          </a:p>
          <a:p>
            <a:endParaRPr lang="en-US" altLang="en-US" dirty="0"/>
          </a:p>
          <a:p>
            <a:endParaRPr lang="en-IN" dirty="0"/>
          </a:p>
        </p:txBody>
      </p:sp>
      <p:graphicFrame>
        <p:nvGraphicFramePr>
          <p:cNvPr id="7" name="Object 4">
            <a:extLst>
              <a:ext uri="{FF2B5EF4-FFF2-40B4-BE49-F238E27FC236}">
                <a16:creationId xmlns:a16="http://schemas.microsoft.com/office/drawing/2014/main" id="{B13E8AA7-ADB7-2C26-50E6-1891BD8FA724}"/>
              </a:ext>
            </a:extLst>
          </p:cNvPr>
          <p:cNvGraphicFramePr>
            <a:graphicFrameLocks noChangeAspect="1"/>
          </p:cNvGraphicFramePr>
          <p:nvPr/>
        </p:nvGraphicFramePr>
        <p:xfrm>
          <a:off x="2786323" y="2800350"/>
          <a:ext cx="7561262" cy="628650"/>
        </p:xfrm>
        <a:graphic>
          <a:graphicData uri="http://schemas.openxmlformats.org/presentationml/2006/ole">
            <mc:AlternateContent xmlns:mc="http://schemas.openxmlformats.org/markup-compatibility/2006">
              <mc:Choice xmlns:v="urn:schemas-microsoft-com:vml" Requires="v">
                <p:oleObj name="Equation" r:id="rId3" imgW="3098800" imgH="254000" progId="Equation.3">
                  <p:embed/>
                </p:oleObj>
              </mc:Choice>
              <mc:Fallback>
                <p:oleObj name="Equation" r:id="rId3" imgW="3098800" imgH="254000" progId="Equation.3">
                  <p:embed/>
                  <p:pic>
                    <p:nvPicPr>
                      <p:cNvPr id="7" name="Object 4">
                        <a:extLst>
                          <a:ext uri="{FF2B5EF4-FFF2-40B4-BE49-F238E27FC236}">
                            <a16:creationId xmlns:a16="http://schemas.microsoft.com/office/drawing/2014/main" id="{B13E8AA7-ADB7-2C26-50E6-1891BD8FA7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86323" y="2800350"/>
                        <a:ext cx="7561262" cy="628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 name="Object 6">
            <a:extLst>
              <a:ext uri="{FF2B5EF4-FFF2-40B4-BE49-F238E27FC236}">
                <a16:creationId xmlns:a16="http://schemas.microsoft.com/office/drawing/2014/main" id="{F09BF973-6258-509E-B706-FBCF5CBAA533}"/>
              </a:ext>
            </a:extLst>
          </p:cNvPr>
          <p:cNvGraphicFramePr>
            <a:graphicFrameLocks noChangeAspect="1"/>
          </p:cNvGraphicFramePr>
          <p:nvPr/>
        </p:nvGraphicFramePr>
        <p:xfrm>
          <a:off x="2535498" y="5213375"/>
          <a:ext cx="7812087" cy="581025"/>
        </p:xfrm>
        <a:graphic>
          <a:graphicData uri="http://schemas.openxmlformats.org/presentationml/2006/ole">
            <mc:AlternateContent xmlns:mc="http://schemas.openxmlformats.org/markup-compatibility/2006">
              <mc:Choice xmlns:v="urn:schemas-microsoft-com:vml" Requires="v">
                <p:oleObj name="Equation" r:id="rId5" imgW="3073400" imgH="228600" progId="Equation.3">
                  <p:embed/>
                </p:oleObj>
              </mc:Choice>
              <mc:Fallback>
                <p:oleObj name="Equation" r:id="rId5" imgW="3073400" imgH="228600" progId="Equation.3">
                  <p:embed/>
                  <p:pic>
                    <p:nvPicPr>
                      <p:cNvPr id="8" name="Object 6">
                        <a:extLst>
                          <a:ext uri="{FF2B5EF4-FFF2-40B4-BE49-F238E27FC236}">
                            <a16:creationId xmlns:a16="http://schemas.microsoft.com/office/drawing/2014/main" id="{F09BF973-6258-509E-B706-FBCF5CBAA53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35498" y="5213375"/>
                        <a:ext cx="7812087" cy="581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2" name="Picture 1" descr="EC - Best Private University in Telangana &amp; Andhra Pradesh ...">
            <a:extLst>
              <a:ext uri="{FF2B5EF4-FFF2-40B4-BE49-F238E27FC236}">
                <a16:creationId xmlns:a16="http://schemas.microsoft.com/office/drawing/2014/main" id="{50527B17-955C-4B0A-0A63-7BFBD01AA0C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0695466" y="27854"/>
            <a:ext cx="1419304" cy="671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94235174"/>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CF55C7DD-5F89-065C-C22D-F8D3A385EB0E}"/>
              </a:ext>
            </a:extLst>
          </p:cNvPr>
          <p:cNvSpPr>
            <a:spLocks noGrp="1"/>
          </p:cNvSpPr>
          <p:nvPr>
            <p:ph type="sldNum" sz="quarter" idx="12"/>
          </p:nvPr>
        </p:nvSpPr>
        <p:spPr/>
        <p:txBody>
          <a:bodyPr/>
          <a:lstStyle/>
          <a:p>
            <a:fld id="{CBABCCC1-BF11-4F37-963E-1BCD5B23FD72}" type="slidenum">
              <a:rPr lang="en-IN" smtClean="0"/>
              <a:t>19</a:t>
            </a:fld>
            <a:endParaRPr lang="en-IN"/>
          </a:p>
        </p:txBody>
      </p:sp>
      <p:pic>
        <p:nvPicPr>
          <p:cNvPr id="5" name="Picture 4">
            <a:extLst>
              <a:ext uri="{FF2B5EF4-FFF2-40B4-BE49-F238E27FC236}">
                <a16:creationId xmlns:a16="http://schemas.microsoft.com/office/drawing/2014/main" id="{785E39DD-E5B1-3119-835D-8FD0F15A8307}"/>
              </a:ext>
            </a:extLst>
          </p:cNvPr>
          <p:cNvPicPr>
            <a:picLocks noChangeAspect="1"/>
          </p:cNvPicPr>
          <p:nvPr/>
        </p:nvPicPr>
        <p:blipFill>
          <a:blip r:embed="rId2"/>
          <a:stretch>
            <a:fillRect/>
          </a:stretch>
        </p:blipFill>
        <p:spPr>
          <a:xfrm>
            <a:off x="961053" y="616965"/>
            <a:ext cx="10590245" cy="5414203"/>
          </a:xfrm>
          <a:prstGeom prst="rect">
            <a:avLst/>
          </a:prstGeom>
        </p:spPr>
      </p:pic>
    </p:spTree>
    <p:extLst>
      <p:ext uri="{BB962C8B-B14F-4D97-AF65-F5344CB8AC3E}">
        <p14:creationId xmlns:p14="http://schemas.microsoft.com/office/powerpoint/2010/main" val="411833864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3D9C4F6-66F9-C028-FE8E-704E29977539}"/>
              </a:ext>
            </a:extLst>
          </p:cNvPr>
          <p:cNvSpPr>
            <a:spLocks noGrp="1"/>
          </p:cNvSpPr>
          <p:nvPr>
            <p:ph type="sldNum" sz="quarter" idx="12"/>
          </p:nvPr>
        </p:nvSpPr>
        <p:spPr/>
        <p:txBody>
          <a:bodyPr/>
          <a:lstStyle/>
          <a:p>
            <a:fld id="{CBABCCC1-BF11-4F37-963E-1BCD5B23FD72}" type="slidenum">
              <a:rPr lang="en-IN" smtClean="0"/>
              <a:t>20</a:t>
            </a:fld>
            <a:endParaRPr lang="en-IN"/>
          </a:p>
        </p:txBody>
      </p:sp>
      <p:pic>
        <p:nvPicPr>
          <p:cNvPr id="5" name="Picture 4">
            <a:extLst>
              <a:ext uri="{FF2B5EF4-FFF2-40B4-BE49-F238E27FC236}">
                <a16:creationId xmlns:a16="http://schemas.microsoft.com/office/drawing/2014/main" id="{52803DAA-4106-FE5F-5A0B-DA929520FEF2}"/>
              </a:ext>
            </a:extLst>
          </p:cNvPr>
          <p:cNvPicPr>
            <a:picLocks noChangeAspect="1"/>
          </p:cNvPicPr>
          <p:nvPr/>
        </p:nvPicPr>
        <p:blipFill>
          <a:blip r:embed="rId2"/>
          <a:stretch>
            <a:fillRect/>
          </a:stretch>
        </p:blipFill>
        <p:spPr>
          <a:xfrm>
            <a:off x="1351011" y="268790"/>
            <a:ext cx="10300996" cy="5862959"/>
          </a:xfrm>
          <a:prstGeom prst="rect">
            <a:avLst/>
          </a:prstGeom>
        </p:spPr>
      </p:pic>
    </p:spTree>
    <p:extLst>
      <p:ext uri="{BB962C8B-B14F-4D97-AF65-F5344CB8AC3E}">
        <p14:creationId xmlns:p14="http://schemas.microsoft.com/office/powerpoint/2010/main" val="241334015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ED7FD29D-BBDE-078E-D487-E57247CDB50D}"/>
              </a:ext>
            </a:extLst>
          </p:cNvPr>
          <p:cNvSpPr/>
          <p:nvPr/>
        </p:nvSpPr>
        <p:spPr>
          <a:xfrm>
            <a:off x="3390636" y="9478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a:latin typeface="Poppins" panose="00000500000000000000" pitchFamily="2" charset="0"/>
                <a:cs typeface="Poppins" panose="00000500000000000000" pitchFamily="2" charset="0"/>
              </a:rPr>
              <a:t>Self-Assessment Questions</a:t>
            </a:r>
            <a:endParaRPr lang="en-US" sz="2000">
              <a:solidFill>
                <a:schemeClr val="bg1"/>
              </a:solidFill>
              <a:latin typeface="Poppins" panose="00000500000000000000" pitchFamily="2" charset="0"/>
              <a:cs typeface="Poppins" panose="00000500000000000000" pitchFamily="2" charset="0"/>
            </a:endParaRPr>
          </a:p>
        </p:txBody>
      </p:sp>
      <p:sp>
        <p:nvSpPr>
          <p:cNvPr id="7" name="Google Shape;502;p17">
            <a:extLst>
              <a:ext uri="{FF2B5EF4-FFF2-40B4-BE49-F238E27FC236}">
                <a16:creationId xmlns:a16="http://schemas.microsoft.com/office/drawing/2014/main" id="{AE3D0AA7-0A5F-7BD6-7BC7-1D38F326B8B4}"/>
              </a:ext>
            </a:extLst>
          </p:cNvPr>
          <p:cNvSpPr/>
          <p:nvPr/>
        </p:nvSpPr>
        <p:spPr>
          <a:xfrm>
            <a:off x="1009894" y="1065092"/>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a:pPr>
            <a:r>
              <a:rPr lang="en-US" sz="1600" dirty="0">
                <a:solidFill>
                  <a:schemeClr val="bg1"/>
                </a:solidFill>
                <a:latin typeface="Poppins" panose="00000500000000000000" pitchFamily="2" charset="0"/>
                <a:ea typeface="Calibri"/>
                <a:cs typeface="Poppins" panose="00000500000000000000" pitchFamily="2" charset="0"/>
                <a:sym typeface="Calibri"/>
              </a:rPr>
              <a:t>Agglomerative Hierarchical Clustering is best described as a:</a:t>
            </a:r>
          </a:p>
        </p:txBody>
      </p:sp>
      <p:sp>
        <p:nvSpPr>
          <p:cNvPr id="11" name="Rounded Rectangle 17">
            <a:extLst>
              <a:ext uri="{FF2B5EF4-FFF2-40B4-BE49-F238E27FC236}">
                <a16:creationId xmlns:a16="http://schemas.microsoft.com/office/drawing/2014/main" id="{5D8B791C-9B35-CF16-C192-D202E0DB9A60}"/>
              </a:ext>
            </a:extLst>
          </p:cNvPr>
          <p:cNvSpPr/>
          <p:nvPr/>
        </p:nvSpPr>
        <p:spPr>
          <a:xfrm>
            <a:off x="1009894" y="1953758"/>
            <a:ext cx="6188929"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endParaRPr lang="en-US" sz="1600" dirty="0"/>
          </a:p>
          <a:p>
            <a:pPr marL="342900" indent="-342900">
              <a:lnSpc>
                <a:spcPct val="150000"/>
              </a:lnSpc>
              <a:buAutoNum type="alphaLcParenBoth"/>
            </a:pPr>
            <a:r>
              <a:rPr lang="en-IN" dirty="0"/>
              <a:t>Top-down approach</a:t>
            </a:r>
            <a:endParaRPr lang="en-US" sz="1600" dirty="0"/>
          </a:p>
          <a:p>
            <a:pPr marL="342900" indent="-342900">
              <a:lnSpc>
                <a:spcPct val="150000"/>
              </a:lnSpc>
              <a:buAutoNum type="alphaLcParenBoth"/>
            </a:pPr>
            <a:r>
              <a:rPr lang="en-US" sz="1600" b="1" dirty="0"/>
              <a:t>Bottom-up approach</a:t>
            </a:r>
          </a:p>
          <a:p>
            <a:pPr marL="342900" indent="-342900">
              <a:lnSpc>
                <a:spcPct val="150000"/>
              </a:lnSpc>
              <a:buAutoNum type="alphaLcParenBoth"/>
            </a:pPr>
            <a:r>
              <a:rPr lang="en-IN" dirty="0"/>
              <a:t>Side-to-side approach</a:t>
            </a:r>
            <a:endParaRPr lang="en-US" sz="1600" dirty="0"/>
          </a:p>
          <a:p>
            <a:pPr marL="342900" indent="-342900">
              <a:lnSpc>
                <a:spcPct val="150000"/>
              </a:lnSpc>
              <a:buAutoNum type="alphaLcParenBoth"/>
            </a:pPr>
            <a:r>
              <a:rPr lang="en-IN" dirty="0"/>
              <a:t>Random approach</a:t>
            </a:r>
            <a:endParaRPr lang="en-US" sz="1600" dirty="0"/>
          </a:p>
          <a:p>
            <a:pPr>
              <a:lnSpc>
                <a:spcPct val="150000"/>
              </a:lnSpc>
            </a:pPr>
            <a:endParaRPr lang="en-US" sz="1600" dirty="0"/>
          </a:p>
        </p:txBody>
      </p:sp>
      <p:sp>
        <p:nvSpPr>
          <p:cNvPr id="13" name="Google Shape;502;p17">
            <a:extLst>
              <a:ext uri="{FF2B5EF4-FFF2-40B4-BE49-F238E27FC236}">
                <a16:creationId xmlns:a16="http://schemas.microsoft.com/office/drawing/2014/main" id="{BB41B87C-BE5F-4BF2-531D-57DC21D1A451}"/>
              </a:ext>
            </a:extLst>
          </p:cNvPr>
          <p:cNvSpPr/>
          <p:nvPr/>
        </p:nvSpPr>
        <p:spPr>
          <a:xfrm>
            <a:off x="1009894" y="3670671"/>
            <a:ext cx="10172210" cy="710244"/>
          </a:xfrm>
          <a:prstGeom prst="roundRect">
            <a:avLst>
              <a:gd name="adj" fmla="val 35613"/>
            </a:avLst>
          </a:prstGeom>
          <a:solidFill>
            <a:srgbClr val="E84845"/>
          </a:solidFill>
          <a:ln>
            <a:noFill/>
          </a:ln>
          <a:effectLst>
            <a:outerShdw blurRad="190500" sx="102000" sy="102000" algn="ctr" rotWithShape="0">
              <a:srgbClr val="000000">
                <a:alpha val="24705"/>
              </a:srgbClr>
            </a:outerShdw>
          </a:effectLst>
        </p:spPr>
        <p:txBody>
          <a:bodyPr spcFirstLastPara="1" wrap="square" lIns="91425" tIns="45700" rIns="91425" bIns="45700" anchor="ctr" anchorCtr="0">
            <a:noAutofit/>
          </a:bodyPr>
          <a:lstStyle/>
          <a:p>
            <a:pPr marL="342900" lvl="0" indent="-342900">
              <a:buFont typeface="+mj-lt"/>
              <a:buAutoNum type="arabicPeriod" startAt="2"/>
            </a:pPr>
            <a:r>
              <a:rPr lang="en-US" sz="1600" dirty="0">
                <a:solidFill>
                  <a:schemeClr val="bg1"/>
                </a:solidFill>
                <a:latin typeface="Poppins" panose="00000500000000000000" pitchFamily="2" charset="0"/>
                <a:ea typeface="Calibri"/>
                <a:cs typeface="Poppins" panose="00000500000000000000" pitchFamily="2" charset="0"/>
                <a:sym typeface="Calibri"/>
              </a:rPr>
              <a:t>What is the name of the tree-like diagram used to show the hierarchy of clusters?</a:t>
            </a:r>
            <a:endParaRPr sz="1600" dirty="0">
              <a:solidFill>
                <a:schemeClr val="bg1"/>
              </a:solidFill>
              <a:latin typeface="Poppins" panose="00000500000000000000" pitchFamily="2" charset="0"/>
              <a:ea typeface="Calibri"/>
              <a:cs typeface="Poppins" panose="00000500000000000000" pitchFamily="2" charset="0"/>
              <a:sym typeface="Calibri"/>
            </a:endParaRPr>
          </a:p>
        </p:txBody>
      </p:sp>
      <p:sp>
        <p:nvSpPr>
          <p:cNvPr id="14" name="Rounded Rectangle 17">
            <a:extLst>
              <a:ext uri="{FF2B5EF4-FFF2-40B4-BE49-F238E27FC236}">
                <a16:creationId xmlns:a16="http://schemas.microsoft.com/office/drawing/2014/main" id="{7E00138C-2256-5D01-E821-A57ADA3BBCB0}"/>
              </a:ext>
            </a:extLst>
          </p:cNvPr>
          <p:cNvSpPr/>
          <p:nvPr/>
        </p:nvSpPr>
        <p:spPr>
          <a:xfrm>
            <a:off x="1009894" y="4452000"/>
            <a:ext cx="2901705" cy="1645828"/>
          </a:xfrm>
          <a:prstGeom prst="roundRect">
            <a:avLst/>
          </a:prstGeom>
          <a:gradFill flip="none" rotWithShape="1">
            <a:gsLst>
              <a:gs pos="0">
                <a:schemeClr val="accent5">
                  <a:lumMod val="89000"/>
                </a:schemeClr>
              </a:gs>
              <a:gs pos="23000">
                <a:schemeClr val="accent5">
                  <a:lumMod val="89000"/>
                </a:schemeClr>
              </a:gs>
              <a:gs pos="69000">
                <a:schemeClr val="accent5">
                  <a:lumMod val="75000"/>
                </a:schemeClr>
              </a:gs>
              <a:gs pos="97000">
                <a:schemeClr val="accent5">
                  <a:lumMod val="70000"/>
                </a:schemeClr>
              </a:gs>
            </a:gsLst>
            <a:path path="circle">
              <a:fillToRect l="50000" t="50000" r="50000" b="50000"/>
            </a:path>
            <a:tileRect/>
          </a:gra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342900" indent="-342900">
              <a:lnSpc>
                <a:spcPct val="150000"/>
              </a:lnSpc>
              <a:buAutoNum type="alphaLcParenBoth"/>
            </a:pPr>
            <a:r>
              <a:rPr lang="en-IN" dirty="0"/>
              <a:t>A bar chart</a:t>
            </a:r>
            <a:endParaRPr lang="en-US" sz="1600" dirty="0"/>
          </a:p>
          <a:p>
            <a:pPr marL="342900" indent="-342900">
              <a:lnSpc>
                <a:spcPct val="150000"/>
              </a:lnSpc>
              <a:buAutoNum type="alphaLcParenBoth"/>
            </a:pPr>
            <a:r>
              <a:rPr lang="en-IN" dirty="0"/>
              <a:t>A scatter plot</a:t>
            </a:r>
            <a:endParaRPr lang="en-US" sz="1600" b="1" dirty="0"/>
          </a:p>
          <a:p>
            <a:pPr marL="342900" indent="-342900">
              <a:lnSpc>
                <a:spcPct val="150000"/>
              </a:lnSpc>
              <a:buAutoNum type="alphaLcParenBoth"/>
            </a:pPr>
            <a:r>
              <a:rPr lang="en-IN" b="1" dirty="0"/>
              <a:t>A dendrogram</a:t>
            </a:r>
            <a:endParaRPr lang="en-US" sz="1600" b="1" dirty="0"/>
          </a:p>
          <a:p>
            <a:pPr marL="342900" indent="-342900">
              <a:lnSpc>
                <a:spcPct val="150000"/>
              </a:lnSpc>
              <a:buAutoNum type="alphaLcParenBoth"/>
            </a:pPr>
            <a:r>
              <a:rPr lang="en-IN" dirty="0"/>
              <a:t>A histogram</a:t>
            </a:r>
            <a:endParaRPr lang="en-US" sz="1600" dirty="0"/>
          </a:p>
          <a:p>
            <a:pPr marL="342900" indent="-342900">
              <a:lnSpc>
                <a:spcPct val="150000"/>
              </a:lnSpc>
              <a:buAutoNum type="alphaLcParenBoth"/>
            </a:pPr>
            <a:endParaRPr lang="en-US" sz="1600" dirty="0"/>
          </a:p>
        </p:txBody>
      </p:sp>
      <p:pic>
        <p:nvPicPr>
          <p:cNvPr id="2" name="Picture 1" descr="EC - Best Private University in Telangana &amp; Andhra Pradesh ...">
            <a:extLst>
              <a:ext uri="{FF2B5EF4-FFF2-40B4-BE49-F238E27FC236}">
                <a16:creationId xmlns:a16="http://schemas.microsoft.com/office/drawing/2014/main" id="{E89A1B9E-B1BA-6F01-853C-CCB8D3A84AA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95466" y="27854"/>
            <a:ext cx="1419304" cy="671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4366485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up)">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1"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Effect transition="in" filter="wipe(up)">
                                      <p:cBhvr>
                                        <p:cTn id="17" dur="500"/>
                                        <p:tgtEl>
                                          <p:spTgt spid="14"/>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1"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up)">
                                      <p:cBhvr>
                                        <p:cTn id="22" dur="500"/>
                                        <p:tgtEl>
                                          <p:spTgt spid="7"/>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7" grpId="0" animBg="1"/>
      <p:bldP spid="11" grpId="0" animBg="1"/>
      <p:bldP spid="13" grpId="0" animBg="1"/>
      <p:bldP spid="14"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17">
            <a:extLst>
              <a:ext uri="{FF2B5EF4-FFF2-40B4-BE49-F238E27FC236}">
                <a16:creationId xmlns:a16="http://schemas.microsoft.com/office/drawing/2014/main" id="{045E056E-10BD-0B9E-4ACE-A3F54C31FD9F}"/>
              </a:ext>
            </a:extLst>
          </p:cNvPr>
          <p:cNvSpPr/>
          <p:nvPr/>
        </p:nvSpPr>
        <p:spPr>
          <a:xfrm>
            <a:off x="3390636" y="607503"/>
            <a:ext cx="5410728" cy="412293"/>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dirty="0"/>
              <a:t>TERMINAL QUESTIONS</a:t>
            </a:r>
          </a:p>
        </p:txBody>
      </p:sp>
      <p:sp>
        <p:nvSpPr>
          <p:cNvPr id="9" name="TextBox 8"/>
          <p:cNvSpPr txBox="1"/>
          <p:nvPr/>
        </p:nvSpPr>
        <p:spPr>
          <a:xfrm>
            <a:off x="1291883" y="1743743"/>
            <a:ext cx="9608234" cy="4198522"/>
          </a:xfrm>
          <a:prstGeom prst="rect">
            <a:avLst/>
          </a:prstGeom>
          <a:noFill/>
        </p:spPr>
        <p:txBody>
          <a:bodyPr wrap="square" rtlCol="0">
            <a:spAutoFit/>
          </a:bodyPr>
          <a:lstStyle/>
          <a:p>
            <a:pPr marL="342900" lvl="0" indent="-342900" algn="just">
              <a:lnSpc>
                <a:spcPct val="150000"/>
              </a:lnSpc>
              <a:buFont typeface="+mj-lt"/>
              <a:buAutoNum type="arabicPeriod"/>
            </a:pPr>
            <a:r>
              <a:rPr lang="en-US" dirty="0"/>
              <a:t>What is the fundamental difference between Agglomerative and Divisive Hierarchical Clustering in terms of their approach?</a:t>
            </a:r>
          </a:p>
          <a:p>
            <a:pPr marL="342900" lvl="0" indent="-342900" algn="just">
              <a:lnSpc>
                <a:spcPct val="150000"/>
              </a:lnSpc>
              <a:buFont typeface="+mj-lt"/>
              <a:buAutoNum type="arabicPeriod"/>
            </a:pPr>
            <a:r>
              <a:rPr lang="en-US" dirty="0"/>
              <a:t>Describe the initial state of data points when starting the Agglomerative Hierarchical Clustering algorithm.</a:t>
            </a:r>
          </a:p>
          <a:p>
            <a:pPr marL="342900" lvl="0" indent="-342900" algn="just">
              <a:lnSpc>
                <a:spcPct val="150000"/>
              </a:lnSpc>
              <a:buFont typeface="+mj-lt"/>
              <a:buAutoNum type="arabicPeriod"/>
            </a:pPr>
            <a:r>
              <a:rPr lang="en-US" dirty="0"/>
              <a:t>What is the name of the graphical representation that illustrates the hierarchical relationships and merging/splitting of clusters?</a:t>
            </a:r>
          </a:p>
          <a:p>
            <a:pPr marL="342900" lvl="0" indent="-342900" algn="just">
              <a:lnSpc>
                <a:spcPct val="150000"/>
              </a:lnSpc>
              <a:buFont typeface="+mj-lt"/>
              <a:buAutoNum type="arabicPeriod"/>
            </a:pPr>
            <a:r>
              <a:rPr lang="en-US" dirty="0"/>
              <a:t>List any two proximity measures used to calculate the distance between two clusters during the merging process.</a:t>
            </a:r>
          </a:p>
          <a:p>
            <a:pPr marL="342900" lvl="0" indent="-342900" algn="just">
              <a:lnSpc>
                <a:spcPct val="150000"/>
              </a:lnSpc>
              <a:buFont typeface="+mj-lt"/>
              <a:buAutoNum type="arabicPeriod"/>
            </a:pPr>
            <a:r>
              <a:rPr lang="en-US" dirty="0"/>
              <a:t>State one major advantage of Hierarchical Clustering over K-Means Clustering regarding the number of clusters.</a:t>
            </a:r>
            <a:endParaRPr lang="en-US" sz="2000" dirty="0"/>
          </a:p>
        </p:txBody>
      </p:sp>
      <p:pic>
        <p:nvPicPr>
          <p:cNvPr id="10" name="Picture 2" descr="KL Deemed to be University Logo"/>
          <p:cNvPicPr>
            <a:picLocks noChangeAspect="1" noChangeArrowheads="1"/>
          </p:cNvPicPr>
          <p:nvPr/>
        </p:nvPicPr>
        <p:blipFill>
          <a:blip r:embed="rId2"/>
          <a:srcRect/>
          <a:stretch>
            <a:fillRect/>
          </a:stretch>
        </p:blipFill>
        <p:spPr bwMode="auto">
          <a:xfrm>
            <a:off x="0" y="0"/>
            <a:ext cx="1990725" cy="600076"/>
          </a:xfrm>
          <a:prstGeom prst="rect">
            <a:avLst/>
          </a:prstGeom>
          <a:noFill/>
        </p:spPr>
      </p:pic>
      <p:pic>
        <p:nvPicPr>
          <p:cNvPr id="2" name="Picture 1" descr="EC - Best Private University in Telangana &amp; Andhra Pradesh ...">
            <a:extLst>
              <a:ext uri="{FF2B5EF4-FFF2-40B4-BE49-F238E27FC236}">
                <a16:creationId xmlns:a16="http://schemas.microsoft.com/office/drawing/2014/main" id="{9CE975C9-02C9-3C51-6EF5-4CBF436DCCA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5466" y="27854"/>
            <a:ext cx="1419304" cy="671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02073769"/>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eelOff"/>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463039" y="1871938"/>
            <a:ext cx="10151621" cy="4104121"/>
          </a:xfrm>
        </p:spPr>
        <p:txBody>
          <a:bodyPr>
            <a:normAutofit fontScale="92500" lnSpcReduction="10000"/>
          </a:bodyPr>
          <a:lstStyle/>
          <a:p>
            <a:pPr marL="0" lvl="0" indent="0">
              <a:lnSpc>
                <a:spcPct val="200000"/>
              </a:lnSpc>
              <a:buNone/>
            </a:pPr>
            <a:r>
              <a:rPr lang="en-IN" b="1" dirty="0"/>
              <a:t>Text Books</a:t>
            </a:r>
            <a:r>
              <a:rPr lang="en-IN" dirty="0"/>
              <a:t>: </a:t>
            </a:r>
          </a:p>
          <a:p>
            <a:pPr marL="0" lvl="0" indent="0">
              <a:lnSpc>
                <a:spcPct val="200000"/>
              </a:lnSpc>
              <a:buNone/>
            </a:pPr>
            <a:r>
              <a:rPr lang="en-IN" dirty="0"/>
              <a:t>1</a:t>
            </a:r>
            <a:r>
              <a:rPr lang="en-US" dirty="0"/>
              <a:t>) Pattern Recognition and Machine Learning, C. M. Bishop, 1st ed. Springer, 2006. </a:t>
            </a:r>
          </a:p>
          <a:p>
            <a:pPr marL="0" lvl="0" indent="0">
              <a:lnSpc>
                <a:spcPct val="200000"/>
              </a:lnSpc>
              <a:buNone/>
            </a:pPr>
            <a:r>
              <a:rPr lang="en-US" dirty="0"/>
              <a:t>2) Machine Learning: A Probabilistic Perspective, K. P. Murphy, 1st ed. The MIT Press, 2012.</a:t>
            </a:r>
            <a:endParaRPr lang="en-IN" dirty="0"/>
          </a:p>
          <a:p>
            <a:pPr marL="0" indent="0">
              <a:lnSpc>
                <a:spcPct val="200000"/>
              </a:lnSpc>
              <a:buNone/>
            </a:pPr>
            <a:r>
              <a:rPr lang="en-IN" b="1" dirty="0"/>
              <a:t>Reference Books :</a:t>
            </a:r>
          </a:p>
          <a:p>
            <a:pPr marL="0" lvl="0" indent="0">
              <a:lnSpc>
                <a:spcPct val="200000"/>
              </a:lnSpc>
              <a:buNone/>
            </a:pPr>
            <a:r>
              <a:rPr lang="en-IN" dirty="0"/>
              <a:t>1) </a:t>
            </a:r>
            <a:r>
              <a:rPr lang="en-US" dirty="0"/>
              <a:t>Machine Learning, Mitchell Tom, Second Edition, McGraw-Hill. </a:t>
            </a:r>
          </a:p>
          <a:p>
            <a:pPr marL="0" lvl="0" indent="0">
              <a:lnSpc>
                <a:spcPct val="200000"/>
              </a:lnSpc>
              <a:buNone/>
            </a:pPr>
            <a:r>
              <a:rPr lang="en-US" dirty="0"/>
              <a:t>2) Stephen Marsland, “Machine Learning an Algorithmic Perspective”, CRC Press, 2009.</a:t>
            </a:r>
          </a:p>
          <a:p>
            <a:pPr lvl="0"/>
            <a:endParaRPr lang="en-IN" sz="1800" dirty="0"/>
          </a:p>
        </p:txBody>
      </p:sp>
      <p:sp>
        <p:nvSpPr>
          <p:cNvPr id="4" name="Slide Number Placeholder 3"/>
          <p:cNvSpPr>
            <a:spLocks noGrp="1"/>
          </p:cNvSpPr>
          <p:nvPr>
            <p:ph type="sldNum" sz="quarter" idx="12"/>
          </p:nvPr>
        </p:nvSpPr>
        <p:spPr/>
        <p:txBody>
          <a:bodyPr/>
          <a:lstStyle/>
          <a:p>
            <a:fld id="{AF818793-7829-4E47-BD69-B53E5A9BEB10}" type="slidenum">
              <a:rPr lang="en-IN" smtClean="0"/>
              <a:pPr/>
              <a:t>23</a:t>
            </a:fld>
            <a:endParaRPr lang="en-IN"/>
          </a:p>
        </p:txBody>
      </p:sp>
      <p:sp>
        <p:nvSpPr>
          <p:cNvPr id="2" name="Rounded Rectangle 17">
            <a:extLst>
              <a:ext uri="{FF2B5EF4-FFF2-40B4-BE49-F238E27FC236}">
                <a16:creationId xmlns:a16="http://schemas.microsoft.com/office/drawing/2014/main" id="{AB687A2E-4220-B252-8E0C-0DBA0B63E540}"/>
              </a:ext>
            </a:extLst>
          </p:cNvPr>
          <p:cNvSpPr/>
          <p:nvPr/>
        </p:nvSpPr>
        <p:spPr>
          <a:xfrm>
            <a:off x="1463039" y="798814"/>
            <a:ext cx="9653665" cy="524657"/>
          </a:xfrm>
          <a:prstGeom prst="roundRect">
            <a:avLst/>
          </a:prstGeom>
          <a:solidFill>
            <a:srgbClr val="BA253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3200" b="1" dirty="0"/>
              <a:t>References</a:t>
            </a:r>
            <a:endParaRPr lang="en-US" sz="3000" b="1" dirty="0"/>
          </a:p>
        </p:txBody>
      </p:sp>
      <p:pic>
        <p:nvPicPr>
          <p:cNvPr id="5" name="Picture 4" descr="EC - Best Private University in Telangana &amp; Andhra Pradesh ...">
            <a:extLst>
              <a:ext uri="{FF2B5EF4-FFF2-40B4-BE49-F238E27FC236}">
                <a16:creationId xmlns:a16="http://schemas.microsoft.com/office/drawing/2014/main" id="{20426244-A251-42EA-2675-3F4C6468F9A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695466" y="27854"/>
            <a:ext cx="1419304" cy="671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793649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ounded Rectangle 3">
            <a:extLst>
              <a:ext uri="{FF2B5EF4-FFF2-40B4-BE49-F238E27FC236}">
                <a16:creationId xmlns:a16="http://schemas.microsoft.com/office/drawing/2014/main" id="{E792BE84-3448-2348-B352-CD5BC083E5FD}"/>
              </a:ext>
            </a:extLst>
          </p:cNvPr>
          <p:cNvSpPr/>
          <p:nvPr/>
        </p:nvSpPr>
        <p:spPr>
          <a:xfrm>
            <a:off x="2354328" y="2201594"/>
            <a:ext cx="7920111" cy="2883877"/>
          </a:xfrm>
          <a:prstGeom prst="roundRect">
            <a:avLst/>
          </a:prstGeom>
          <a:solidFill>
            <a:schemeClr val="accent2"/>
          </a:solidFill>
          <a:ln>
            <a:noFill/>
          </a:ln>
          <a:effectLst>
            <a:outerShdw blurRad="50800" dist="38100" dir="2700000" algn="tl" rotWithShape="0">
              <a:srgbClr val="BA2532">
                <a:alpha val="4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dirty="0">
              <a:latin typeface="Poppins" pitchFamily="2" charset="77"/>
              <a:cs typeface="Poppins" pitchFamily="2" charset="77"/>
            </a:endParaRPr>
          </a:p>
          <a:p>
            <a:pPr algn="ctr"/>
            <a:endParaRPr lang="en-US" sz="2400" b="1" dirty="0">
              <a:latin typeface="Poppins" pitchFamily="2" charset="77"/>
              <a:cs typeface="Poppins" pitchFamily="2" charset="77"/>
            </a:endParaRPr>
          </a:p>
          <a:p>
            <a:pPr algn="ctr"/>
            <a:r>
              <a:rPr lang="en-US" sz="2400" b="1" dirty="0">
                <a:latin typeface="Poppins" pitchFamily="2" charset="77"/>
                <a:cs typeface="Poppins" pitchFamily="2" charset="77"/>
              </a:rPr>
              <a:t>THANK YOU</a:t>
            </a: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endParaRPr lang="en-US" sz="2400" dirty="0">
              <a:latin typeface="Poppins" pitchFamily="2" charset="77"/>
              <a:cs typeface="Poppins" pitchFamily="2" charset="77"/>
            </a:endParaRPr>
          </a:p>
          <a:p>
            <a:pPr algn="ctr"/>
            <a:r>
              <a:rPr lang="en-US" sz="2100" b="1" dirty="0">
                <a:latin typeface="Poppins" pitchFamily="2" charset="77"/>
                <a:cs typeface="Poppins" pitchFamily="2" charset="77"/>
              </a:rPr>
              <a:t>Team – MACHINE LEARNING</a:t>
            </a: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a:p>
            <a:pPr algn="ctr"/>
            <a:endParaRPr lang="en-US" sz="2400" dirty="0">
              <a:solidFill>
                <a:schemeClr val="bg1"/>
              </a:solidFill>
              <a:latin typeface="Poppins" pitchFamily="2" charset="77"/>
              <a:cs typeface="Poppins" pitchFamily="2" charset="77"/>
            </a:endParaRPr>
          </a:p>
        </p:txBody>
      </p:sp>
      <p:pic>
        <p:nvPicPr>
          <p:cNvPr id="6" name="Picture 2" descr="KL Deemed to be University Logo"/>
          <p:cNvPicPr>
            <a:picLocks noChangeAspect="1" noChangeArrowheads="1"/>
          </p:cNvPicPr>
          <p:nvPr/>
        </p:nvPicPr>
        <p:blipFill>
          <a:blip r:embed="rId2"/>
          <a:srcRect/>
          <a:stretch>
            <a:fillRect/>
          </a:stretch>
        </p:blipFill>
        <p:spPr bwMode="auto">
          <a:xfrm>
            <a:off x="5396969" y="2899954"/>
            <a:ext cx="3235570" cy="1083212"/>
          </a:xfrm>
          <a:prstGeom prst="rect">
            <a:avLst/>
          </a:prstGeom>
          <a:noFill/>
        </p:spPr>
      </p:pic>
      <p:sp>
        <p:nvSpPr>
          <p:cNvPr id="2" name="Slide Number Placeholder 1">
            <a:extLst>
              <a:ext uri="{FF2B5EF4-FFF2-40B4-BE49-F238E27FC236}">
                <a16:creationId xmlns:a16="http://schemas.microsoft.com/office/drawing/2014/main" id="{154B42AB-20DF-0238-5ED1-C3F67575E436}"/>
              </a:ext>
            </a:extLst>
          </p:cNvPr>
          <p:cNvSpPr>
            <a:spLocks noGrp="1"/>
          </p:cNvSpPr>
          <p:nvPr>
            <p:ph type="sldNum" sz="quarter" idx="12"/>
          </p:nvPr>
        </p:nvSpPr>
        <p:spPr/>
        <p:txBody>
          <a:bodyPr/>
          <a:lstStyle/>
          <a:p>
            <a:fld id="{CBABCCC1-BF11-4F37-963E-1BCD5B23FD72}" type="slidenum">
              <a:rPr lang="en-IN" smtClean="0"/>
              <a:t>24</a:t>
            </a:fld>
            <a:endParaRPr lang="en-IN"/>
          </a:p>
        </p:txBody>
      </p:sp>
      <p:pic>
        <p:nvPicPr>
          <p:cNvPr id="3" name="Picture 2" descr="EC - Best Private University in Telangana &amp; Andhra Pradesh ...">
            <a:extLst>
              <a:ext uri="{FF2B5EF4-FFF2-40B4-BE49-F238E27FC236}">
                <a16:creationId xmlns:a16="http://schemas.microsoft.com/office/drawing/2014/main" id="{D8C592BD-E1D4-2A01-7E4C-ADAFD2D1AA0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695466" y="27854"/>
            <a:ext cx="1419304" cy="6718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15605630"/>
      </p:ext>
    </p:extLst>
  </p:cSld>
  <p:clrMapOvr>
    <a:masterClrMapping/>
  </p:clrMapOvr>
</p:sld>
</file>

<file path=ppt/theme/theme1.xml><?xml version="1.0" encoding="utf-8"?>
<a:theme xmlns:a="http://schemas.openxmlformats.org/drawingml/2006/main" name="Gallery">
  <a:themeElements>
    <a:clrScheme name="Gallery">
      <a:dk1>
        <a:sysClr val="windowText" lastClr="000000"/>
      </a:dk1>
      <a:lt1>
        <a:sysClr val="window" lastClr="FFFFFF"/>
      </a:lt1>
      <a:dk2>
        <a:srgbClr val="454545"/>
      </a:dk2>
      <a:lt2>
        <a:srgbClr val="DFDBD5"/>
      </a:lt2>
      <a:accent1>
        <a:srgbClr val="B71E42"/>
      </a:accent1>
      <a:accent2>
        <a:srgbClr val="DE478E"/>
      </a:accent2>
      <a:accent3>
        <a:srgbClr val="BC72F0"/>
      </a:accent3>
      <a:accent4>
        <a:srgbClr val="795FAF"/>
      </a:accent4>
      <a:accent5>
        <a:srgbClr val="586EA6"/>
      </a:accent5>
      <a:accent6>
        <a:srgbClr val="6892A0"/>
      </a:accent6>
      <a:hlink>
        <a:srgbClr val="FA2B5C"/>
      </a:hlink>
      <a:folHlink>
        <a:srgbClr val="BC658E"/>
      </a:folHlink>
    </a:clrScheme>
    <a:fontScheme name="Gallery">
      <a:majorFont>
        <a:latin typeface="Gill Sans MT" panose="020B0502020104020203"/>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Gill Sans MT" panose="020B0502020104020203"/>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solidFill>
        <a:gradFill rotWithShape="1">
          <a:gsLst>
            <a:gs pos="0">
              <a:schemeClr val="phClr">
                <a:tint val="94000"/>
                <a:satMod val="80000"/>
                <a:lumMod val="106000"/>
              </a:schemeClr>
            </a:gs>
            <a:gs pos="100000">
              <a:schemeClr val="phClr">
                <a:shade val="80000"/>
              </a:schemeClr>
            </a:gs>
          </a:gsLst>
          <a:path path="circle">
            <a:fillToRect l="43000" r="43000" b="100000"/>
          </a:path>
        </a:gradFill>
      </a:bgFillStyleLst>
    </a:fmtScheme>
  </a:themeElements>
  <a:objectDefaults/>
  <a:extraClrSchemeLst/>
  <a:extLst>
    <a:ext uri="{05A4C25C-085E-4340-85A3-A5531E510DB2}">
      <thm15:themeFamily xmlns:thm15="http://schemas.microsoft.com/office/thememl/2012/main" name="DL  Session  template" id="{9160AA8B-D3AB-429F-A301-A9385DB385CC}" vid="{4C3C9BEC-19C0-4A39-96F5-F2800DE2153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Data Preprocessing</Template>
  <TotalTime>1410</TotalTime>
  <Words>1349</Words>
  <Application>Microsoft Office PowerPoint</Application>
  <PresentationFormat>Widescreen</PresentationFormat>
  <Paragraphs>191</Paragraphs>
  <Slides>24</Slides>
  <Notes>13</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24</vt:i4>
      </vt:variant>
    </vt:vector>
  </HeadingPairs>
  <TitlesOfParts>
    <vt:vector size="34" baseType="lpstr">
      <vt:lpstr>ＭＳ Ｐゴシック</vt:lpstr>
      <vt:lpstr>Aptos Narrow</vt:lpstr>
      <vt:lpstr>Arial</vt:lpstr>
      <vt:lpstr>Calibri</vt:lpstr>
      <vt:lpstr>Courier New</vt:lpstr>
      <vt:lpstr>Gill Sans MT</vt:lpstr>
      <vt:lpstr>Poppins</vt:lpstr>
      <vt:lpstr>Wingdings</vt:lpstr>
      <vt:lpstr>Gallery</vt:lpstr>
      <vt:lpstr>Equation</vt:lpstr>
      <vt:lpstr>machine learning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driven artificial intelligent systems</dc:title>
  <dc:creator>Dr. K. Purna Prakash</dc:creator>
  <cp:lastModifiedBy>Jyothsna Datti</cp:lastModifiedBy>
  <cp:revision>515</cp:revision>
  <dcterms:created xsi:type="dcterms:W3CDTF">2023-10-25T10:31:07Z</dcterms:created>
  <dcterms:modified xsi:type="dcterms:W3CDTF">2026-09-15T14:09:56Z</dcterms:modified>
</cp:coreProperties>
</file>